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policy anchor, not the data. The government adopted a National Resilience Strategy in September 2025. Pillars 3 and 4 ask for reduced dependencies, supply chain transparency and a regular assessment of resilience, but nobody has a tool that shows it in trade data. The 2026 energy shock and US tariffs make it urgent. We looked at five options; the Radar links the most current topics and fits the challenge's geo and time requirements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strategy's own diagram: civil preparedness on the left, military on the right, cross-cutting pillars in the overlap. Our Radar is the data layer for pillars 3, 4 and 5: essential goods, a resilient economy, and strategic resources. The strategy itself asks for supply chain transparency to reduce critical dependencies, and for a regular assessment of the country's resilience. That is exactly what the Radar delivers: not a one-off chart, but a monitoring instrument that STATEC can update with every new month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framework is not invented: it is the strategy's own definition of resilience, turned into three measurable lenses. Resist is about concentration of supply, shown on a map. Adapt asks whether partner shares shift after a shock. Recover measures how many months flows need to get back to pre-shock levels, after removing seasonal effects, which answers the challenge's seasonality question. The baskets come straight from Pillar 3's list of essential goods. Three real shocks give us natural stress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work by strength: statisticians own data and metrics, the app is built in parallel with Claude, one person owns the story. Name the risks ourselves before the jury does: partner country is not country of origin, concentration on neighbours is not automatically a risk, trade data cover goods only, and some CN8 values are confidential. Fallback: if time runs short we ship Resist plus the 2026 stress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AF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166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E1650"/>
                </a:solidFill>
                <a:latin typeface="Archivo" pitchFamily="34" charset="0"/>
                <a:ea typeface="Archivo" pitchFamily="34" charset="-122"/>
                <a:cs typeface="Archiv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24380"/>
            <a:ext cx="10566400" cy="4020820"/>
          </a:xfrm>
          <a:prstGeom prst="rect">
            <a:avLst/>
          </a:prstGeom>
          <a:noFill/>
          <a:ln/>
        </p:spPr>
        <p:txBody>
          <a:bodyPr wrap="square" lIns="0" tIns="0" rIns="0" bIns="0" rtlCol="0" anchor="t"/>
          <a:lstStyle>
            <a:lvl1pPr algn="l" indent="0" marL="0">
              <a:lnSpc>
                <a:spcPct val="140000"/>
              </a:lnSpc>
              <a:buNone/>
              <a:defRPr lang="en-US" sz="1600" dirty="0">
                <a:solidFill>
                  <a:srgbClr val="E30613"/>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AF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166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E1650"/>
                </a:solidFill>
                <a:latin typeface="Archivo" pitchFamily="34" charset="0"/>
                <a:ea typeface="Archivo" pitchFamily="34" charset="-122"/>
                <a:cs typeface="Archiv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24380"/>
            <a:ext cx="10566400" cy="4020820"/>
          </a:xfrm>
          <a:prstGeom prst="rect">
            <a:avLst/>
          </a:prstGeom>
          <a:noFill/>
          <a:ln/>
        </p:spPr>
        <p:txBody>
          <a:bodyPr wrap="square" lIns="0" tIns="0" rIns="0" bIns="0" rtlCol="0" anchor="t"/>
          <a:lstStyle>
            <a:lvl1pPr algn="l" indent="0" marL="0">
              <a:lnSpc>
                <a:spcPct val="140000"/>
              </a:lnSpc>
              <a:buNone/>
              <a:defRPr lang="en-US" sz="1600" dirty="0">
                <a:solidFill>
                  <a:srgbClr val="E30613"/>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gradFill rotWithShape="1">
            <a:gsLst>
              <a:gs pos="0">
                <a:srgbClr val="E30613"/>
              </a:gs>
              <a:gs pos="50000">
                <a:srgbClr val="E30613"/>
              </a:gs>
              <a:gs pos="50000">
                <a:srgbClr val="0096D6"/>
              </a:gs>
              <a:gs pos="100000">
                <a:srgbClr val="0096D6"/>
              </a:gs>
            </a:gsLst>
            <a:lin ang="0" scaled="0"/>
          </a:gradFill>
          <a:ln/>
        </p:spPr>
      </p:sp>
      <p:sp>
        <p:nvSpPr>
          <p:cNvPr id="3" name="Text 1"/>
          <p:cNvSpPr/>
          <p:nvPr/>
        </p:nvSpPr>
        <p:spPr>
          <a:xfrm>
            <a:off x="812800" y="812800"/>
            <a:ext cx="10883392" cy="203914"/>
          </a:xfrm>
          <a:prstGeom prst="rect">
            <a:avLst/>
          </a:prstGeom>
          <a:noFill/>
          <a:ln/>
        </p:spPr>
        <p:txBody>
          <a:bodyPr wrap="square" lIns="0" tIns="0" rIns="0" bIns="0" rtlCol="0" anchor="t">
            <a:normAutofit/>
          </a:bodyPr>
          <a:lstStyle/>
          <a:p>
            <a:pPr algn="l" indent="0" marL="0">
              <a:lnSpc>
                <a:spcPts val="1423"/>
              </a:lnSpc>
              <a:buNone/>
            </a:pPr>
            <a:r>
              <a:rPr lang="en-US" sz="1016" b="1" spc="200" kern="0" dirty="0">
                <a:solidFill>
                  <a:srgbClr val="0077B3"/>
                </a:solidFill>
                <a:latin typeface="Public Sans" pitchFamily="34" charset="0"/>
                <a:ea typeface="Public Sans" pitchFamily="34" charset="-122"/>
                <a:cs typeface="Public Sans" pitchFamily="34" charset="-120"/>
              </a:rPr>
              <a:t>STATEC HACKATHON 2026 · TEAM PROPOSAL</a:t>
            </a:r>
            <a:endParaRPr lang="en-US" sz="1016" dirty="0"/>
          </a:p>
        </p:txBody>
      </p:sp>
      <p:sp>
        <p:nvSpPr>
          <p:cNvPr id="4" name="Text 2"/>
          <p:cNvSpPr/>
          <p:nvPr>
            <p:ph type="title"/>
          </p:nvPr>
        </p:nvSpPr>
        <p:spPr>
          <a:xfrm>
            <a:off x="812800" y="1245314"/>
            <a:ext cx="10883392" cy="1976755"/>
          </a:xfrm>
          <a:prstGeom prst="rect">
            <a:avLst/>
          </a:prstGeom>
          <a:noFill/>
          <a:ln/>
        </p:spPr>
        <p:txBody>
          <a:bodyPr wrap="square" lIns="0" tIns="0" rIns="0" bIns="0" rtlCol="0" anchor="t">
            <a:normAutofit/>
          </a:bodyPr>
          <a:lstStyle/>
          <a:p>
            <a:pPr algn="l" indent="0" marL="0">
              <a:lnSpc>
                <a:spcPts val="5106"/>
              </a:lnSpc>
              <a:buNone/>
            </a:pPr>
            <a:r>
              <a:rPr lang="en-US" sz="5006" b="1" i="0" spc="-100" kern="0" dirty="0">
                <a:solidFill>
                  <a:srgbClr val="E30613"/>
                </a:solidFill>
                <a:latin typeface="Archivo" pitchFamily="34" charset="0"/>
                <a:ea typeface="Archivo" pitchFamily="34" charset="-122"/>
                <a:cs typeface="Archivo" pitchFamily="34" charset="-120"/>
              </a:rPr>
              <a:t>Resilience Radar</a:t>
            </a:r>
            <a:endParaRPr lang="en-US" sz="5006" dirty="0"/>
          </a:p>
          <a:p>
            <a:pPr algn="l" indent="0" marL="0">
              <a:lnSpc>
                <a:spcPts val="5106"/>
              </a:lnSpc>
              <a:buNone/>
            </a:pPr>
            <a:r>
              <a:rPr lang="en-US" sz="5006" b="1" i="0" spc="-100" kern="0" dirty="0">
                <a:solidFill>
                  <a:srgbClr val="0096D6"/>
                </a:solidFill>
                <a:latin typeface="Archivo" pitchFamily="34" charset="0"/>
                <a:ea typeface="Archivo" pitchFamily="34" charset="-122"/>
                <a:cs typeface="Archivo" pitchFamily="34" charset="-120"/>
              </a:rPr>
              <a:t>Who does Luxembourg depend on?</a:t>
            </a:r>
            <a:endParaRPr lang="en-US" sz="5006" dirty="0"/>
          </a:p>
        </p:txBody>
      </p:sp>
      <p:sp>
        <p:nvSpPr>
          <p:cNvPr id="5" name="Text 3"/>
          <p:cNvSpPr/>
          <p:nvPr/>
        </p:nvSpPr>
        <p:spPr>
          <a:xfrm>
            <a:off x="812800" y="3450670"/>
            <a:ext cx="9156700" cy="501571"/>
          </a:xfrm>
          <a:prstGeom prst="rect">
            <a:avLst/>
          </a:prstGeom>
          <a:noFill/>
          <a:ln/>
        </p:spPr>
        <p:txBody>
          <a:bodyPr wrap="square" lIns="0" tIns="0" rIns="0" bIns="0" rtlCol="0" anchor="t">
            <a:normAutofit/>
          </a:bodyPr>
          <a:lstStyle/>
          <a:p>
            <a:pPr algn="l" indent="0" marL="0">
              <a:lnSpc>
                <a:spcPts val="1883"/>
              </a:lnSpc>
              <a:buNone/>
            </a:pPr>
            <a:r>
              <a:rPr lang="en-US" sz="1345" dirty="0">
                <a:solidFill>
                  <a:srgbClr val="3A3570"/>
                </a:solidFill>
                <a:latin typeface="Public Sans" pitchFamily="34" charset="0"/>
                <a:ea typeface="Public Sans" pitchFamily="34" charset="-122"/>
                <a:cs typeface="Public Sans" pitchFamily="34" charset="-120"/>
              </a:rPr>
              <a:t>An interactive tool on Eurostat trade data that makes Luxembourg's supply dependencies visible, over time and on the map.</a:t>
            </a:r>
            <a:endParaRPr lang="en-US" sz="1345" dirty="0"/>
          </a:p>
        </p:txBody>
      </p:sp>
      <p:sp>
        <p:nvSpPr>
          <p:cNvPr id="6" name="Shape 4"/>
          <p:cNvSpPr/>
          <p:nvPr/>
        </p:nvSpPr>
        <p:spPr>
          <a:xfrm>
            <a:off x="812800" y="4180840"/>
            <a:ext cx="3386614" cy="1228646"/>
          </a:xfrm>
          <a:prstGeom prst="rect">
            <a:avLst/>
          </a:prstGeom>
          <a:solidFill>
            <a:srgbClr val="E6F2FB"/>
          </a:solidFill>
          <a:ln/>
        </p:spPr>
      </p:sp>
      <p:sp>
        <p:nvSpPr>
          <p:cNvPr id="7" name="Shape 5"/>
          <p:cNvSpPr/>
          <p:nvPr/>
        </p:nvSpPr>
        <p:spPr>
          <a:xfrm>
            <a:off x="812800" y="4206240"/>
            <a:ext cx="3386614" cy="0"/>
          </a:xfrm>
          <a:prstGeom prst="line">
            <a:avLst/>
          </a:prstGeom>
          <a:noFill/>
          <a:ln w="50800">
            <a:solidFill>
              <a:srgbClr val="E30613"/>
            </a:solidFill>
            <a:prstDash val="solid"/>
          </a:ln>
        </p:spPr>
      </p:sp>
      <p:sp>
        <p:nvSpPr>
          <p:cNvPr id="8" name="Text 6"/>
          <p:cNvSpPr/>
          <p:nvPr/>
        </p:nvSpPr>
        <p:spPr>
          <a:xfrm>
            <a:off x="1041400" y="4460240"/>
            <a:ext cx="3017296" cy="203200"/>
          </a:xfrm>
          <a:prstGeom prst="rect">
            <a:avLst/>
          </a:prstGeom>
          <a:noFill/>
          <a:ln/>
        </p:spPr>
        <p:txBody>
          <a:bodyPr wrap="square" lIns="0" tIns="0" rIns="0" bIns="0" rtlCol="0" anchor="t">
            <a:normAutofit/>
          </a:bodyPr>
          <a:lstStyle/>
          <a:p>
            <a:pPr algn="l" indent="0" marL="0">
              <a:lnSpc>
                <a:spcPts val="1422"/>
              </a:lnSpc>
              <a:buNone/>
            </a:pPr>
            <a:r>
              <a:rPr lang="en-US" sz="1185" b="1" dirty="0">
                <a:solidFill>
                  <a:srgbClr val="1E1650"/>
                </a:solidFill>
                <a:latin typeface="Archivo" pitchFamily="34" charset="0"/>
                <a:ea typeface="Archivo" pitchFamily="34" charset="-122"/>
                <a:cs typeface="Archivo" pitchFamily="34" charset="-120"/>
              </a:rPr>
              <a:t>National Resilience Strategy</a:t>
            </a:r>
            <a:endParaRPr lang="en-US" sz="1185" dirty="0"/>
          </a:p>
        </p:txBody>
      </p:sp>
      <p:sp>
        <p:nvSpPr>
          <p:cNvPr id="9" name="Text 7"/>
          <p:cNvSpPr/>
          <p:nvPr/>
        </p:nvSpPr>
        <p:spPr>
          <a:xfrm>
            <a:off x="1041400" y="4714240"/>
            <a:ext cx="3017296" cy="492046"/>
          </a:xfrm>
          <a:prstGeom prst="rect">
            <a:avLst/>
          </a:prstGeom>
          <a:noFill/>
          <a:ln/>
        </p:spPr>
        <p:txBody>
          <a:bodyPr wrap="square" lIns="0" tIns="0" rIns="0" bIns="0" rtlCol="0" anchor="t">
            <a:normAutofit/>
          </a:bodyPr>
          <a:lstStyle/>
          <a:p>
            <a:pPr algn="l" indent="0" marL="0">
              <a:lnSpc>
                <a:spcPts val="1223"/>
              </a:lnSpc>
              <a:buNone/>
            </a:pPr>
            <a:r>
              <a:rPr lang="en-US" sz="874" dirty="0">
                <a:solidFill>
                  <a:srgbClr val="1E1650"/>
                </a:solidFill>
                <a:latin typeface="Public Sans" pitchFamily="34" charset="0"/>
                <a:ea typeface="Public Sans" pitchFamily="34" charset="-122"/>
                <a:cs typeface="Public Sans" pitchFamily="34" charset="-120"/>
              </a:rPr>
              <a:t>Adopted Sept 2025. Pillars 3 and 4 call for fewer dependencies, supply chain transparency and regular assessment.</a:t>
            </a:r>
            <a:endParaRPr lang="en-US" sz="874" dirty="0"/>
          </a:p>
        </p:txBody>
      </p:sp>
      <p:sp>
        <p:nvSpPr>
          <p:cNvPr id="10" name="Shape 8"/>
          <p:cNvSpPr/>
          <p:nvPr/>
        </p:nvSpPr>
        <p:spPr>
          <a:xfrm>
            <a:off x="4402614" y="4180840"/>
            <a:ext cx="3386693" cy="1228646"/>
          </a:xfrm>
          <a:prstGeom prst="rect">
            <a:avLst/>
          </a:prstGeom>
          <a:solidFill>
            <a:srgbClr val="E6F2FB"/>
          </a:solidFill>
          <a:ln/>
        </p:spPr>
      </p:sp>
      <p:sp>
        <p:nvSpPr>
          <p:cNvPr id="11" name="Shape 9"/>
          <p:cNvSpPr/>
          <p:nvPr/>
        </p:nvSpPr>
        <p:spPr>
          <a:xfrm>
            <a:off x="4402614" y="4206240"/>
            <a:ext cx="3386693" cy="0"/>
          </a:xfrm>
          <a:prstGeom prst="line">
            <a:avLst/>
          </a:prstGeom>
          <a:noFill/>
          <a:ln w="50800">
            <a:solidFill>
              <a:srgbClr val="0096D6"/>
            </a:solidFill>
            <a:prstDash val="solid"/>
          </a:ln>
        </p:spPr>
      </p:sp>
      <p:sp>
        <p:nvSpPr>
          <p:cNvPr id="12" name="Text 10"/>
          <p:cNvSpPr/>
          <p:nvPr/>
        </p:nvSpPr>
        <p:spPr>
          <a:xfrm>
            <a:off x="4631214" y="4460240"/>
            <a:ext cx="3017378" cy="203200"/>
          </a:xfrm>
          <a:prstGeom prst="rect">
            <a:avLst/>
          </a:prstGeom>
          <a:noFill/>
          <a:ln/>
        </p:spPr>
        <p:txBody>
          <a:bodyPr wrap="square" lIns="0" tIns="0" rIns="0" bIns="0" rtlCol="0" anchor="t">
            <a:normAutofit/>
          </a:bodyPr>
          <a:lstStyle/>
          <a:p>
            <a:pPr algn="l" indent="0" marL="0">
              <a:lnSpc>
                <a:spcPts val="1422"/>
              </a:lnSpc>
              <a:buNone/>
            </a:pPr>
            <a:r>
              <a:rPr lang="en-US" sz="1185" b="1" dirty="0">
                <a:solidFill>
                  <a:srgbClr val="1E1650"/>
                </a:solidFill>
                <a:latin typeface="Archivo" pitchFamily="34" charset="0"/>
                <a:ea typeface="Archivo" pitchFamily="34" charset="-122"/>
                <a:cs typeface="Archivo" pitchFamily="34" charset="-120"/>
              </a:rPr>
              <a:t>Energy shock 2026</a:t>
            </a:r>
            <a:endParaRPr lang="en-US" sz="1185" dirty="0"/>
          </a:p>
        </p:txBody>
      </p:sp>
      <p:sp>
        <p:nvSpPr>
          <p:cNvPr id="13" name="Text 11"/>
          <p:cNvSpPr/>
          <p:nvPr/>
        </p:nvSpPr>
        <p:spPr>
          <a:xfrm>
            <a:off x="4631214" y="4714240"/>
            <a:ext cx="3017378" cy="492046"/>
          </a:xfrm>
          <a:prstGeom prst="rect">
            <a:avLst/>
          </a:prstGeom>
          <a:noFill/>
          <a:ln/>
        </p:spPr>
        <p:txBody>
          <a:bodyPr wrap="square" lIns="0" tIns="0" rIns="0" bIns="0" rtlCol="0" anchor="t">
            <a:normAutofit/>
          </a:bodyPr>
          <a:lstStyle/>
          <a:p>
            <a:pPr algn="l" indent="0" marL="0">
              <a:lnSpc>
                <a:spcPts val="1307"/>
              </a:lnSpc>
              <a:buNone/>
            </a:pPr>
            <a:r>
              <a:rPr lang="en-US" sz="934" dirty="0">
                <a:solidFill>
                  <a:srgbClr val="1E1650"/>
                </a:solidFill>
                <a:latin typeface="Public Sans" pitchFamily="34" charset="0"/>
                <a:ea typeface="Public Sans" pitchFamily="34" charset="-122"/>
                <a:cs typeface="Public Sans" pitchFamily="34" charset="-120"/>
              </a:rPr>
              <a:t>The Hormuz crisis exposed import dependencies. The PM named them in his State of the Nation speech.</a:t>
            </a:r>
            <a:endParaRPr lang="en-US" sz="934" dirty="0"/>
          </a:p>
        </p:txBody>
      </p:sp>
      <p:sp>
        <p:nvSpPr>
          <p:cNvPr id="14" name="Shape 12"/>
          <p:cNvSpPr/>
          <p:nvPr/>
        </p:nvSpPr>
        <p:spPr>
          <a:xfrm>
            <a:off x="7992507" y="4180840"/>
            <a:ext cx="3386693" cy="1228646"/>
          </a:xfrm>
          <a:prstGeom prst="rect">
            <a:avLst/>
          </a:prstGeom>
          <a:solidFill>
            <a:srgbClr val="E6F2FB"/>
          </a:solidFill>
          <a:ln/>
        </p:spPr>
      </p:sp>
      <p:sp>
        <p:nvSpPr>
          <p:cNvPr id="15" name="Shape 13"/>
          <p:cNvSpPr/>
          <p:nvPr/>
        </p:nvSpPr>
        <p:spPr>
          <a:xfrm>
            <a:off x="7992507" y="4206240"/>
            <a:ext cx="3386693" cy="0"/>
          </a:xfrm>
          <a:prstGeom prst="line">
            <a:avLst/>
          </a:prstGeom>
          <a:noFill/>
          <a:ln w="50800">
            <a:solidFill>
              <a:srgbClr val="1E1650"/>
            </a:solidFill>
            <a:prstDash val="solid"/>
          </a:ln>
        </p:spPr>
      </p:sp>
      <p:sp>
        <p:nvSpPr>
          <p:cNvPr id="16" name="Text 14"/>
          <p:cNvSpPr/>
          <p:nvPr/>
        </p:nvSpPr>
        <p:spPr>
          <a:xfrm>
            <a:off x="8221107" y="4460240"/>
            <a:ext cx="3017378" cy="203200"/>
          </a:xfrm>
          <a:prstGeom prst="rect">
            <a:avLst/>
          </a:prstGeom>
          <a:noFill/>
          <a:ln/>
        </p:spPr>
        <p:txBody>
          <a:bodyPr wrap="square" lIns="0" tIns="0" rIns="0" bIns="0" rtlCol="0" anchor="t">
            <a:normAutofit/>
          </a:bodyPr>
          <a:lstStyle/>
          <a:p>
            <a:pPr algn="l" indent="0" marL="0">
              <a:lnSpc>
                <a:spcPts val="1422"/>
              </a:lnSpc>
              <a:buNone/>
            </a:pPr>
            <a:r>
              <a:rPr lang="en-US" sz="1185" b="1" dirty="0">
                <a:solidFill>
                  <a:srgbClr val="1E1650"/>
                </a:solidFill>
                <a:latin typeface="Archivo" pitchFamily="34" charset="0"/>
                <a:ea typeface="Archivo" pitchFamily="34" charset="-122"/>
                <a:cs typeface="Archivo" pitchFamily="34" charset="-120"/>
              </a:rPr>
              <a:t>Trade friction</a:t>
            </a:r>
            <a:endParaRPr lang="en-US" sz="1185" dirty="0"/>
          </a:p>
        </p:txBody>
      </p:sp>
      <p:sp>
        <p:nvSpPr>
          <p:cNvPr id="17" name="Text 15"/>
          <p:cNvSpPr/>
          <p:nvPr/>
        </p:nvSpPr>
        <p:spPr>
          <a:xfrm>
            <a:off x="8221107" y="4714240"/>
            <a:ext cx="3017378" cy="492046"/>
          </a:xfrm>
          <a:prstGeom prst="rect">
            <a:avLst/>
          </a:prstGeom>
          <a:noFill/>
          <a:ln/>
        </p:spPr>
        <p:txBody>
          <a:bodyPr wrap="square" lIns="0" tIns="0" rIns="0" bIns="0" rtlCol="0" anchor="t">
            <a:normAutofit/>
          </a:bodyPr>
          <a:lstStyle/>
          <a:p>
            <a:pPr algn="l" indent="0" marL="0">
              <a:lnSpc>
                <a:spcPts val="1543"/>
              </a:lnSpc>
              <a:buNone/>
            </a:pPr>
            <a:r>
              <a:rPr lang="en-US" sz="1103" dirty="0">
                <a:solidFill>
                  <a:srgbClr val="1E1650"/>
                </a:solidFill>
                <a:latin typeface="Public Sans" pitchFamily="34" charset="0"/>
                <a:ea typeface="Public Sans" pitchFamily="34" charset="-122"/>
                <a:cs typeface="Public Sans" pitchFamily="34" charset="-120"/>
              </a:rPr>
              <a:t>US tariffs hit metals exports. STATEC already tracks the exposure. We make it a tool.</a:t>
            </a:r>
            <a:endParaRPr lang="en-US" sz="1103" dirty="0"/>
          </a:p>
        </p:txBody>
      </p:sp>
      <p:sp>
        <p:nvSpPr>
          <p:cNvPr id="18" name="Text 16"/>
          <p:cNvSpPr/>
          <p:nvPr/>
        </p:nvSpPr>
        <p:spPr>
          <a:xfrm>
            <a:off x="812800" y="5663486"/>
            <a:ext cx="10883392" cy="203914"/>
          </a:xfrm>
          <a:prstGeom prst="rect">
            <a:avLst/>
          </a:prstGeom>
          <a:noFill/>
          <a:ln/>
        </p:spPr>
        <p:txBody>
          <a:bodyPr wrap="square" lIns="0" tIns="0" rIns="0" bIns="0" rtlCol="0" anchor="t">
            <a:normAutofit/>
          </a:bodyPr>
          <a:lstStyle/>
          <a:p>
            <a:pPr algn="l" indent="0" marL="0">
              <a:lnSpc>
                <a:spcPts val="1423"/>
              </a:lnSpc>
              <a:buNone/>
            </a:pPr>
            <a:r>
              <a:rPr lang="en-US" sz="1016" b="1" dirty="0">
                <a:solidFill>
                  <a:srgbClr val="3A3570"/>
                </a:solidFill>
                <a:latin typeface="Public Sans" pitchFamily="34" charset="0"/>
                <a:ea typeface="Public Sans" pitchFamily="34" charset="-122"/>
                <a:cs typeface="Public Sans" pitchFamily="34" charset="-120"/>
              </a:rPr>
              <a:t>Options weighed:</a:t>
            </a:r>
            <a:r>
              <a:rPr lang="en-US" sz="1016" dirty="0">
                <a:solidFill>
                  <a:srgbClr val="3A3570"/>
                </a:solidFill>
                <a:latin typeface="Public Sans" pitchFamily="34" charset="0"/>
                <a:ea typeface="Public Sans" pitchFamily="34" charset="-122"/>
                <a:cs typeface="Public Sans" pitchFamily="34" charset="-120"/>
              </a:rPr>
              <a:t> PNEC monitor · Energy shock · </a:t>
            </a:r>
            <a:r>
              <a:rPr lang="en-US" sz="1016" b="1" dirty="0">
                <a:solidFill>
                  <a:srgbClr val="C00511"/>
                </a:solidFill>
                <a:latin typeface="Public Sans" pitchFamily="34" charset="0"/>
                <a:ea typeface="Public Sans" pitchFamily="34" charset="-122"/>
                <a:cs typeface="Public Sans" pitchFamily="34" charset="-120"/>
              </a:rPr>
              <a:t>Resilience Radar (chosen)</a:t>
            </a:r>
            <a:r>
              <a:rPr lang="en-US" sz="1016" dirty="0">
                <a:solidFill>
                  <a:srgbClr val="3A3570"/>
                </a:solidFill>
                <a:latin typeface="Public Sans" pitchFamily="34" charset="0"/>
                <a:ea typeface="Public Sans" pitchFamily="34" charset="-122"/>
                <a:cs typeface="Public Sans" pitchFamily="34" charset="-120"/>
              </a:rPr>
              <a:t> · Digital imports · Product space</a:t>
            </a:r>
            <a:endParaRPr lang="en-US" sz="1016" dirty="0"/>
          </a:p>
        </p:txBody>
      </p:sp>
      <p:sp>
        <p:nvSpPr>
          <p:cNvPr id="19" name="Text 17"/>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80"/>
                </a:solidFill>
                <a:latin typeface="Public Sans" pitchFamily="34" charset="0"/>
                <a:ea typeface="Public Sans" pitchFamily="34" charset="-122"/>
                <a:cs typeface="Public Sans" pitchFamily="34" charset="-120"/>
              </a:rPr>
              <a:t>Sources: National Resilience Strategy (HCPN, 2025) · State of the Nation 2026 · STATEC Conjoncture Flash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gradFill rotWithShape="1">
            <a:gsLst>
              <a:gs pos="0">
                <a:srgbClr val="E30613"/>
              </a:gs>
              <a:gs pos="50000">
                <a:srgbClr val="E30613"/>
              </a:gs>
              <a:gs pos="50000">
                <a:srgbClr val="0096D6"/>
              </a:gs>
              <a:gs pos="100000">
                <a:srgbClr val="0096D6"/>
              </a:gs>
            </a:gsLst>
            <a:lin ang="0" scaled="0"/>
          </a:gra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077B3"/>
                </a:solidFill>
                <a:latin typeface="Public Sans" pitchFamily="34" charset="0"/>
                <a:ea typeface="Public Sans" pitchFamily="34" charset="-122"/>
                <a:cs typeface="Public Sans" pitchFamily="34" charset="-120"/>
              </a:rPr>
              <a:t>NATIONAL RESILIENCE STRATEGY · 8 PILLARS</a:t>
            </a:r>
            <a:endParaRPr lang="en-US" sz="1200" dirty="0"/>
          </a:p>
        </p:txBody>
      </p:sp>
      <p:sp>
        <p:nvSpPr>
          <p:cNvPr id="4" name="Text 2"/>
          <p:cNvSpPr/>
          <p:nvPr>
            <p:ph type="title"/>
          </p:nvPr>
        </p:nvSpPr>
        <p:spPr>
          <a:xfrm>
            <a:off x="812800" y="11785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E1650"/>
                </a:solidFill>
                <a:latin typeface="Archivo" pitchFamily="34" charset="0"/>
                <a:ea typeface="Archivo" pitchFamily="34" charset="-122"/>
                <a:cs typeface="Archivo" pitchFamily="34" charset="-120"/>
              </a:rPr>
              <a:t>Where our tool sits</a:t>
            </a:r>
            <a:endParaRPr lang="en-US" sz="3600" dirty="0"/>
          </a:p>
        </p:txBody>
      </p:sp>
      <p:pic>
        <p:nvPicPr>
          <p:cNvPr id="5" name="Image 0" descr="Two overlapping circles: civil preparedness with pillars 1 to 4, military preparedness with pillar 8, and pillars 5 to 7 in the overlap">    </p:cNvPr>
          <p:cNvPicPr>
            <a:picLocks noChangeAspect="1"/>
          </p:cNvPicPr>
          <p:nvPr/>
        </p:nvPicPr>
        <p:blipFill>
          <a:blip r:embed="rId1"/>
          <a:srcRect l="0" r="0" t="0" b="0"/>
          <a:stretch/>
        </p:blipFill>
        <p:spPr>
          <a:xfrm>
            <a:off x="812800" y="1905000"/>
            <a:ext cx="6350000" cy="3810000"/>
          </a:xfrm>
          <a:prstGeom prst="rect">
            <a:avLst/>
          </a:prstGeom>
        </p:spPr>
      </p:pic>
      <p:sp>
        <p:nvSpPr>
          <p:cNvPr id="6" name="Text 3"/>
          <p:cNvSpPr/>
          <p:nvPr/>
        </p:nvSpPr>
        <p:spPr>
          <a:xfrm>
            <a:off x="1701800" y="23368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7B3"/>
                </a:solidFill>
                <a:latin typeface="Public Sans" pitchFamily="34" charset="0"/>
                <a:ea typeface="Public Sans" pitchFamily="34" charset="-122"/>
                <a:cs typeface="Public Sans" pitchFamily="34" charset="-120"/>
              </a:rPr>
              <a:t>CIVIL</a:t>
            </a:r>
            <a:endParaRPr lang="en-US" sz="1200" dirty="0"/>
          </a:p>
        </p:txBody>
      </p:sp>
      <p:sp>
        <p:nvSpPr>
          <p:cNvPr id="7" name="Text 4"/>
          <p:cNvSpPr/>
          <p:nvPr/>
        </p:nvSpPr>
        <p:spPr>
          <a:xfrm>
            <a:off x="4699000" y="2336800"/>
            <a:ext cx="1701800" cy="238760"/>
          </a:xfrm>
          <a:prstGeom prst="rect">
            <a:avLst/>
          </a:prstGeom>
          <a:noFill/>
          <a:ln/>
        </p:spPr>
        <p:txBody>
          <a:bodyPr wrap="square" lIns="0" tIns="0" rIns="0" bIns="0" rtlCol="0" anchor="t">
            <a:normAutofit/>
          </a:bodyPr>
          <a:lstStyle/>
          <a:p>
            <a:pPr algn="r" indent="0" marL="0">
              <a:lnSpc>
                <a:spcPts val="1680"/>
              </a:lnSpc>
              <a:buNone/>
            </a:pPr>
            <a:r>
              <a:rPr lang="en-US" sz="1200" b="1" spc="150" kern="0" dirty="0">
                <a:solidFill>
                  <a:srgbClr val="1E1650"/>
                </a:solidFill>
                <a:latin typeface="Public Sans" pitchFamily="34" charset="0"/>
                <a:ea typeface="Public Sans" pitchFamily="34" charset="-122"/>
                <a:cs typeface="Public Sans" pitchFamily="34" charset="-120"/>
              </a:rPr>
              <a:t>MILITARY</a:t>
            </a:r>
            <a:endParaRPr lang="en-US" sz="1200" dirty="0"/>
          </a:p>
        </p:txBody>
      </p:sp>
      <p:sp>
        <p:nvSpPr>
          <p:cNvPr id="8" name="Text 5"/>
          <p:cNvSpPr/>
          <p:nvPr/>
        </p:nvSpPr>
        <p:spPr>
          <a:xfrm>
            <a:off x="1495425" y="3095625"/>
            <a:ext cx="539750" cy="539750"/>
          </a:xfrm>
          <a:custGeom>
            <a:avLst/>
            <a:gdLst/>
            <a:ahLst/>
            <a:cxnLst/>
            <a:rect l="l" t="t" r="r" b="b"/>
            <a:pathLst>
              <a:path w="539750" h="539750">
                <a:moveTo>
                  <a:pt x="269875" y="0"/>
                </a:moveTo>
                <a:lnTo>
                  <a:pt x="269875" y="0"/>
                </a:lnTo>
                <a:arcTo hR="269875" wR="269875" stAng="16200000" swAng="5400000"/>
                <a:lnTo>
                  <a:pt x="539750" y="269875"/>
                </a:lnTo>
                <a:arcTo hR="269875" wR="269875" stAng="0" swAng="5400000"/>
                <a:lnTo>
                  <a:pt x="269875" y="539750"/>
                </a:lnTo>
                <a:arcTo hR="269875" wR="269875" stAng="5400000" swAng="5400000"/>
                <a:lnTo>
                  <a:pt x="0" y="269875"/>
                </a:lnTo>
                <a:arcTo hR="269875" wR="269875" stAng="10800000" swAng="5400000"/>
                <a:close/>
              </a:path>
            </a:pathLst>
          </a:custGeom>
          <a:solidFill>
            <a:srgbClr val="FFFFFF"/>
          </a:solidFill>
          <a:ln w="19050">
            <a:solidFill>
              <a:srgbClr val="8A89A8"/>
            </a:solidFill>
            <a:prstDash val="solid"/>
          </a:ln>
        </p:spPr>
        <p:txBody>
          <a:bodyPr wrap="square" lIns="0" tIns="5715" rIns="0" bIns="0" rtlCol="0" anchor="t">
            <a:normAutofit/>
          </a:bodyPr>
          <a:lstStyle/>
          <a:p>
            <a:pPr algn="ctr" indent="0" marL="0">
              <a:lnSpc>
                <a:spcPts val="4174"/>
              </a:lnSpc>
              <a:buNone/>
            </a:pPr>
            <a:r>
              <a:rPr lang="en-US" sz="1988" b="1" dirty="0">
                <a:solidFill>
                  <a:srgbClr val="5A5680"/>
                </a:solidFill>
                <a:latin typeface="Archivo" pitchFamily="34" charset="0"/>
                <a:ea typeface="Archivo" pitchFamily="34" charset="-122"/>
                <a:cs typeface="Archivo" pitchFamily="34" charset="-120"/>
              </a:rPr>
              <a:t>1</a:t>
            </a:r>
            <a:endParaRPr lang="en-US" sz="1988" dirty="0"/>
          </a:p>
        </p:txBody>
      </p:sp>
      <p:sp>
        <p:nvSpPr>
          <p:cNvPr id="9" name="Text 6"/>
          <p:cNvSpPr/>
          <p:nvPr/>
        </p:nvSpPr>
        <p:spPr>
          <a:xfrm>
            <a:off x="2193925" y="3095625"/>
            <a:ext cx="539750" cy="539750"/>
          </a:xfrm>
          <a:custGeom>
            <a:avLst/>
            <a:gdLst/>
            <a:ahLst/>
            <a:cxnLst/>
            <a:rect l="l" t="t" r="r" b="b"/>
            <a:pathLst>
              <a:path w="539750" h="539750">
                <a:moveTo>
                  <a:pt x="269875" y="0"/>
                </a:moveTo>
                <a:lnTo>
                  <a:pt x="269875" y="0"/>
                </a:lnTo>
                <a:arcTo hR="269875" wR="269875" stAng="16200000" swAng="5400000"/>
                <a:lnTo>
                  <a:pt x="539750" y="269875"/>
                </a:lnTo>
                <a:arcTo hR="269875" wR="269875" stAng="0" swAng="5400000"/>
                <a:lnTo>
                  <a:pt x="269875" y="539750"/>
                </a:lnTo>
                <a:arcTo hR="269875" wR="269875" stAng="5400000" swAng="5400000"/>
                <a:lnTo>
                  <a:pt x="0" y="269875"/>
                </a:lnTo>
                <a:arcTo hR="269875" wR="269875" stAng="10800000" swAng="5400000"/>
                <a:close/>
              </a:path>
            </a:pathLst>
          </a:custGeom>
          <a:solidFill>
            <a:srgbClr val="FFFFFF"/>
          </a:solidFill>
          <a:ln w="19050">
            <a:solidFill>
              <a:srgbClr val="8A89A8"/>
            </a:solidFill>
            <a:prstDash val="solid"/>
          </a:ln>
        </p:spPr>
        <p:txBody>
          <a:bodyPr wrap="square" lIns="0" tIns="5715" rIns="0" bIns="0" rtlCol="0" anchor="t">
            <a:normAutofit/>
          </a:bodyPr>
          <a:lstStyle/>
          <a:p>
            <a:pPr algn="ctr" indent="0" marL="0">
              <a:lnSpc>
                <a:spcPts val="4174"/>
              </a:lnSpc>
              <a:buNone/>
            </a:pPr>
            <a:r>
              <a:rPr lang="en-US" sz="1988" b="1" dirty="0">
                <a:solidFill>
                  <a:srgbClr val="5A5680"/>
                </a:solidFill>
                <a:latin typeface="Archivo" pitchFamily="34" charset="0"/>
                <a:ea typeface="Archivo" pitchFamily="34" charset="-122"/>
                <a:cs typeface="Archivo" pitchFamily="34" charset="-120"/>
              </a:rPr>
              <a:t>2</a:t>
            </a:r>
            <a:endParaRPr lang="en-US" sz="1988" dirty="0"/>
          </a:p>
        </p:txBody>
      </p:sp>
      <p:sp>
        <p:nvSpPr>
          <p:cNvPr id="10" name="Text 7"/>
          <p:cNvSpPr/>
          <p:nvPr/>
        </p:nvSpPr>
        <p:spPr>
          <a:xfrm>
            <a:off x="1495425" y="3857625"/>
            <a:ext cx="539750" cy="539750"/>
          </a:xfrm>
          <a:custGeom>
            <a:avLst/>
            <a:gdLst/>
            <a:ahLst/>
            <a:cxnLst/>
            <a:rect l="l" t="t" r="r" b="b"/>
            <a:pathLst>
              <a:path w="539750" h="539750">
                <a:moveTo>
                  <a:pt x="269875" y="0"/>
                </a:moveTo>
                <a:lnTo>
                  <a:pt x="269875" y="0"/>
                </a:lnTo>
                <a:arcTo hR="269875" wR="269875" stAng="16200000" swAng="5400000"/>
                <a:lnTo>
                  <a:pt x="539750" y="269875"/>
                </a:lnTo>
                <a:arcTo hR="269875" wR="269875" stAng="0" swAng="5400000"/>
                <a:lnTo>
                  <a:pt x="269875" y="539750"/>
                </a:lnTo>
                <a:arcTo hR="269875" wR="269875" stAng="5400000" swAng="5400000"/>
                <a:lnTo>
                  <a:pt x="0" y="269875"/>
                </a:lnTo>
                <a:arcTo hR="269875" wR="269875" stAng="10800000" swAng="5400000"/>
                <a:close/>
              </a:path>
            </a:pathLst>
          </a:custGeom>
          <a:solidFill>
            <a:srgbClr val="E30613"/>
          </a:solidFill>
          <a:ln w="19050">
            <a:solidFill>
              <a:srgbClr val="E30613"/>
            </a:solidFill>
            <a:prstDash val="solid"/>
          </a:ln>
          <a:effectLst>
            <a:outerShdw sx="100000" sy="100000" kx="0" ky="0" algn="bl" rotWithShape="0" blurRad="63500" dist="0" dir="60000">
              <a:srgbClr val="E30613">
                <a:alpha val="18000"/>
              </a:srgbClr>
            </a:outerShdw>
          </a:effectLst>
        </p:spPr>
        <p:txBody>
          <a:bodyPr wrap="square" lIns="0" tIns="5715" rIns="0" bIns="0" rtlCol="0" anchor="t">
            <a:normAutofit/>
          </a:bodyPr>
          <a:lstStyle/>
          <a:p>
            <a:pPr algn="ctr" indent="0" marL="0">
              <a:lnSpc>
                <a:spcPts val="4174"/>
              </a:lnSpc>
              <a:buNone/>
            </a:pPr>
            <a:r>
              <a:rPr lang="en-US" sz="1988" b="1" dirty="0">
                <a:solidFill>
                  <a:srgbClr val="F7FAFD"/>
                </a:solidFill>
                <a:latin typeface="Archivo" pitchFamily="34" charset="0"/>
                <a:ea typeface="Archivo" pitchFamily="34" charset="-122"/>
                <a:cs typeface="Archivo" pitchFamily="34" charset="-120"/>
              </a:rPr>
              <a:t>3</a:t>
            </a:r>
            <a:endParaRPr lang="en-US" sz="1988" dirty="0"/>
          </a:p>
        </p:txBody>
      </p:sp>
      <p:sp>
        <p:nvSpPr>
          <p:cNvPr id="11" name="Text 8"/>
          <p:cNvSpPr/>
          <p:nvPr/>
        </p:nvSpPr>
        <p:spPr>
          <a:xfrm>
            <a:off x="2193925" y="3857625"/>
            <a:ext cx="539750" cy="539750"/>
          </a:xfrm>
          <a:custGeom>
            <a:avLst/>
            <a:gdLst/>
            <a:ahLst/>
            <a:cxnLst/>
            <a:rect l="l" t="t" r="r" b="b"/>
            <a:pathLst>
              <a:path w="539750" h="539750">
                <a:moveTo>
                  <a:pt x="269875" y="0"/>
                </a:moveTo>
                <a:lnTo>
                  <a:pt x="269875" y="0"/>
                </a:lnTo>
                <a:arcTo hR="269875" wR="269875" stAng="16200000" swAng="5400000"/>
                <a:lnTo>
                  <a:pt x="539750" y="269875"/>
                </a:lnTo>
                <a:arcTo hR="269875" wR="269875" stAng="0" swAng="5400000"/>
                <a:lnTo>
                  <a:pt x="269875" y="539750"/>
                </a:lnTo>
                <a:arcTo hR="269875" wR="269875" stAng="5400000" swAng="5400000"/>
                <a:lnTo>
                  <a:pt x="0" y="269875"/>
                </a:lnTo>
                <a:arcTo hR="269875" wR="269875" stAng="10800000" swAng="5400000"/>
                <a:close/>
              </a:path>
            </a:pathLst>
          </a:custGeom>
          <a:solidFill>
            <a:srgbClr val="E30613"/>
          </a:solidFill>
          <a:ln w="19050">
            <a:solidFill>
              <a:srgbClr val="E30613"/>
            </a:solidFill>
            <a:prstDash val="solid"/>
          </a:ln>
          <a:effectLst>
            <a:outerShdw sx="100000" sy="100000" kx="0" ky="0" algn="bl" rotWithShape="0" blurRad="63500" dist="0" dir="60000">
              <a:srgbClr val="E30613">
                <a:alpha val="18000"/>
              </a:srgbClr>
            </a:outerShdw>
          </a:effectLst>
        </p:spPr>
        <p:txBody>
          <a:bodyPr wrap="square" lIns="0" tIns="5715" rIns="0" bIns="0" rtlCol="0" anchor="t">
            <a:normAutofit/>
          </a:bodyPr>
          <a:lstStyle/>
          <a:p>
            <a:pPr algn="ctr" indent="0" marL="0">
              <a:lnSpc>
                <a:spcPts val="4174"/>
              </a:lnSpc>
              <a:buNone/>
            </a:pPr>
            <a:r>
              <a:rPr lang="en-US" sz="1988" b="1" dirty="0">
                <a:solidFill>
                  <a:srgbClr val="F7FAFD"/>
                </a:solidFill>
                <a:latin typeface="Archivo" pitchFamily="34" charset="0"/>
                <a:ea typeface="Archivo" pitchFamily="34" charset="-122"/>
                <a:cs typeface="Archivo" pitchFamily="34" charset="-120"/>
              </a:rPr>
              <a:t>4</a:t>
            </a:r>
            <a:endParaRPr lang="en-US" sz="1988" dirty="0"/>
          </a:p>
        </p:txBody>
      </p:sp>
      <p:sp>
        <p:nvSpPr>
          <p:cNvPr id="12" name="Text 9"/>
          <p:cNvSpPr/>
          <p:nvPr/>
        </p:nvSpPr>
        <p:spPr>
          <a:xfrm>
            <a:off x="3717925" y="2778125"/>
            <a:ext cx="539750" cy="539750"/>
          </a:xfrm>
          <a:custGeom>
            <a:avLst/>
            <a:gdLst/>
            <a:ahLst/>
            <a:cxnLst/>
            <a:rect l="l" t="t" r="r" b="b"/>
            <a:pathLst>
              <a:path w="539750" h="539750">
                <a:moveTo>
                  <a:pt x="269875" y="0"/>
                </a:moveTo>
                <a:lnTo>
                  <a:pt x="269875" y="0"/>
                </a:lnTo>
                <a:arcTo hR="269875" wR="269875" stAng="16200000" swAng="5400000"/>
                <a:lnTo>
                  <a:pt x="539750" y="269875"/>
                </a:lnTo>
                <a:arcTo hR="269875" wR="269875" stAng="0" swAng="5400000"/>
                <a:lnTo>
                  <a:pt x="269875" y="539750"/>
                </a:lnTo>
                <a:arcTo hR="269875" wR="269875" stAng="5400000" swAng="5400000"/>
                <a:lnTo>
                  <a:pt x="0" y="269875"/>
                </a:lnTo>
                <a:arcTo hR="269875" wR="269875" stAng="10800000" swAng="5400000"/>
                <a:close/>
              </a:path>
            </a:pathLst>
          </a:custGeom>
          <a:solidFill>
            <a:srgbClr val="E30613"/>
          </a:solidFill>
          <a:ln w="19050">
            <a:solidFill>
              <a:srgbClr val="E30613"/>
            </a:solidFill>
            <a:prstDash val="solid"/>
          </a:ln>
          <a:effectLst>
            <a:outerShdw sx="100000" sy="100000" kx="0" ky="0" algn="bl" rotWithShape="0" blurRad="63500" dist="0" dir="60000">
              <a:srgbClr val="E30613">
                <a:alpha val="18000"/>
              </a:srgbClr>
            </a:outerShdw>
          </a:effectLst>
        </p:spPr>
        <p:txBody>
          <a:bodyPr wrap="square" lIns="0" tIns="5715" rIns="0" bIns="0" rtlCol="0" anchor="t">
            <a:normAutofit/>
          </a:bodyPr>
          <a:lstStyle/>
          <a:p>
            <a:pPr algn="ctr" indent="0" marL="0">
              <a:lnSpc>
                <a:spcPts val="4174"/>
              </a:lnSpc>
              <a:buNone/>
            </a:pPr>
            <a:r>
              <a:rPr lang="en-US" sz="1988" b="1" dirty="0">
                <a:solidFill>
                  <a:srgbClr val="F7FAFD"/>
                </a:solidFill>
                <a:latin typeface="Archivo" pitchFamily="34" charset="0"/>
                <a:ea typeface="Archivo" pitchFamily="34" charset="-122"/>
                <a:cs typeface="Archivo" pitchFamily="34" charset="-120"/>
              </a:rPr>
              <a:t>5</a:t>
            </a:r>
            <a:endParaRPr lang="en-US" sz="1988" dirty="0"/>
          </a:p>
        </p:txBody>
      </p:sp>
      <p:sp>
        <p:nvSpPr>
          <p:cNvPr id="13" name="Text 10"/>
          <p:cNvSpPr/>
          <p:nvPr/>
        </p:nvSpPr>
        <p:spPr>
          <a:xfrm>
            <a:off x="3717925" y="3540125"/>
            <a:ext cx="539750" cy="539750"/>
          </a:xfrm>
          <a:custGeom>
            <a:avLst/>
            <a:gdLst/>
            <a:ahLst/>
            <a:cxnLst/>
            <a:rect l="l" t="t" r="r" b="b"/>
            <a:pathLst>
              <a:path w="539750" h="539750">
                <a:moveTo>
                  <a:pt x="269875" y="0"/>
                </a:moveTo>
                <a:lnTo>
                  <a:pt x="269875" y="0"/>
                </a:lnTo>
                <a:arcTo hR="269875" wR="269875" stAng="16200000" swAng="5400000"/>
                <a:lnTo>
                  <a:pt x="539750" y="269875"/>
                </a:lnTo>
                <a:arcTo hR="269875" wR="269875" stAng="0" swAng="5400000"/>
                <a:lnTo>
                  <a:pt x="269875" y="539750"/>
                </a:lnTo>
                <a:arcTo hR="269875" wR="269875" stAng="5400000" swAng="5400000"/>
                <a:lnTo>
                  <a:pt x="0" y="269875"/>
                </a:lnTo>
                <a:arcTo hR="269875" wR="269875" stAng="10800000" swAng="5400000"/>
                <a:close/>
              </a:path>
            </a:pathLst>
          </a:custGeom>
          <a:solidFill>
            <a:srgbClr val="FFFFFF"/>
          </a:solidFill>
          <a:ln w="19050">
            <a:solidFill>
              <a:srgbClr val="8A89A8"/>
            </a:solidFill>
            <a:prstDash val="solid"/>
          </a:ln>
        </p:spPr>
        <p:txBody>
          <a:bodyPr wrap="square" lIns="0" tIns="5715" rIns="0" bIns="0" rtlCol="0" anchor="t">
            <a:normAutofit/>
          </a:bodyPr>
          <a:lstStyle/>
          <a:p>
            <a:pPr algn="ctr" indent="0" marL="0">
              <a:lnSpc>
                <a:spcPts val="4174"/>
              </a:lnSpc>
              <a:buNone/>
            </a:pPr>
            <a:r>
              <a:rPr lang="en-US" sz="1988" b="1" dirty="0">
                <a:solidFill>
                  <a:srgbClr val="5A5680"/>
                </a:solidFill>
                <a:latin typeface="Archivo" pitchFamily="34" charset="0"/>
                <a:ea typeface="Archivo" pitchFamily="34" charset="-122"/>
                <a:cs typeface="Archivo" pitchFamily="34" charset="-120"/>
              </a:rPr>
              <a:t>6</a:t>
            </a:r>
            <a:endParaRPr lang="en-US" sz="1988" dirty="0"/>
          </a:p>
        </p:txBody>
      </p:sp>
      <p:sp>
        <p:nvSpPr>
          <p:cNvPr id="14" name="Text 11"/>
          <p:cNvSpPr/>
          <p:nvPr/>
        </p:nvSpPr>
        <p:spPr>
          <a:xfrm>
            <a:off x="3717925" y="4302125"/>
            <a:ext cx="539750" cy="539750"/>
          </a:xfrm>
          <a:custGeom>
            <a:avLst/>
            <a:gdLst/>
            <a:ahLst/>
            <a:cxnLst/>
            <a:rect l="l" t="t" r="r" b="b"/>
            <a:pathLst>
              <a:path w="539750" h="539750">
                <a:moveTo>
                  <a:pt x="269875" y="0"/>
                </a:moveTo>
                <a:lnTo>
                  <a:pt x="269875" y="0"/>
                </a:lnTo>
                <a:arcTo hR="269875" wR="269875" stAng="16200000" swAng="5400000"/>
                <a:lnTo>
                  <a:pt x="539750" y="269875"/>
                </a:lnTo>
                <a:arcTo hR="269875" wR="269875" stAng="0" swAng="5400000"/>
                <a:lnTo>
                  <a:pt x="269875" y="539750"/>
                </a:lnTo>
                <a:arcTo hR="269875" wR="269875" stAng="5400000" swAng="5400000"/>
                <a:lnTo>
                  <a:pt x="0" y="269875"/>
                </a:lnTo>
                <a:arcTo hR="269875" wR="269875" stAng="10800000" swAng="5400000"/>
                <a:close/>
              </a:path>
            </a:pathLst>
          </a:custGeom>
          <a:solidFill>
            <a:srgbClr val="FFFFFF"/>
          </a:solidFill>
          <a:ln w="19050">
            <a:solidFill>
              <a:srgbClr val="8A89A8"/>
            </a:solidFill>
            <a:prstDash val="solid"/>
          </a:ln>
        </p:spPr>
        <p:txBody>
          <a:bodyPr wrap="square" lIns="0" tIns="5715" rIns="0" bIns="0" rtlCol="0" anchor="t">
            <a:normAutofit/>
          </a:bodyPr>
          <a:lstStyle/>
          <a:p>
            <a:pPr algn="ctr" indent="0" marL="0">
              <a:lnSpc>
                <a:spcPts val="4174"/>
              </a:lnSpc>
              <a:buNone/>
            </a:pPr>
            <a:r>
              <a:rPr lang="en-US" sz="1988" b="1" dirty="0">
                <a:solidFill>
                  <a:srgbClr val="5A5680"/>
                </a:solidFill>
                <a:latin typeface="Archivo" pitchFamily="34" charset="0"/>
                <a:ea typeface="Archivo" pitchFamily="34" charset="-122"/>
                <a:cs typeface="Archivo" pitchFamily="34" charset="-120"/>
              </a:rPr>
              <a:t>7</a:t>
            </a:r>
            <a:endParaRPr lang="en-US" sz="1988" dirty="0"/>
          </a:p>
        </p:txBody>
      </p:sp>
      <p:sp>
        <p:nvSpPr>
          <p:cNvPr id="15" name="Text 12"/>
          <p:cNvSpPr/>
          <p:nvPr/>
        </p:nvSpPr>
        <p:spPr>
          <a:xfrm>
            <a:off x="5622925" y="3540125"/>
            <a:ext cx="539750" cy="539750"/>
          </a:xfrm>
          <a:custGeom>
            <a:avLst/>
            <a:gdLst/>
            <a:ahLst/>
            <a:cxnLst/>
            <a:rect l="l" t="t" r="r" b="b"/>
            <a:pathLst>
              <a:path w="539750" h="539750">
                <a:moveTo>
                  <a:pt x="269875" y="0"/>
                </a:moveTo>
                <a:lnTo>
                  <a:pt x="269875" y="0"/>
                </a:lnTo>
                <a:arcTo hR="269875" wR="269875" stAng="16200000" swAng="5400000"/>
                <a:lnTo>
                  <a:pt x="539750" y="269875"/>
                </a:lnTo>
                <a:arcTo hR="269875" wR="269875" stAng="0" swAng="5400000"/>
                <a:lnTo>
                  <a:pt x="269875" y="539750"/>
                </a:lnTo>
                <a:arcTo hR="269875" wR="269875" stAng="5400000" swAng="5400000"/>
                <a:lnTo>
                  <a:pt x="0" y="269875"/>
                </a:lnTo>
                <a:arcTo hR="269875" wR="269875" stAng="10800000" swAng="5400000"/>
                <a:close/>
              </a:path>
            </a:pathLst>
          </a:custGeom>
          <a:solidFill>
            <a:srgbClr val="FFFFFF"/>
          </a:solidFill>
          <a:ln w="19050">
            <a:solidFill>
              <a:srgbClr val="8A89A8"/>
            </a:solidFill>
            <a:prstDash val="solid"/>
          </a:ln>
        </p:spPr>
        <p:txBody>
          <a:bodyPr wrap="square" lIns="0" tIns="5715" rIns="0" bIns="0" rtlCol="0" anchor="t">
            <a:normAutofit/>
          </a:bodyPr>
          <a:lstStyle/>
          <a:p>
            <a:pPr algn="ctr" indent="0" marL="0">
              <a:lnSpc>
                <a:spcPts val="4174"/>
              </a:lnSpc>
              <a:buNone/>
            </a:pPr>
            <a:r>
              <a:rPr lang="en-US" sz="1988" b="1" dirty="0">
                <a:solidFill>
                  <a:srgbClr val="5A5680"/>
                </a:solidFill>
                <a:latin typeface="Archivo" pitchFamily="34" charset="0"/>
                <a:ea typeface="Archivo" pitchFamily="34" charset="-122"/>
                <a:cs typeface="Archivo" pitchFamily="34" charset="-120"/>
              </a:rPr>
              <a:t>8</a:t>
            </a:r>
            <a:endParaRPr lang="en-US" sz="1988" dirty="0"/>
          </a:p>
        </p:txBody>
      </p:sp>
      <p:sp>
        <p:nvSpPr>
          <p:cNvPr id="16" name="Text 13"/>
          <p:cNvSpPr/>
          <p:nvPr/>
        </p:nvSpPr>
        <p:spPr>
          <a:xfrm>
            <a:off x="1358900" y="4699000"/>
            <a:ext cx="2667000" cy="375920"/>
          </a:xfrm>
          <a:prstGeom prst="roundRect">
            <a:avLst>
              <a:gd name="adj" fmla="val 50000"/>
            </a:avLst>
          </a:prstGeom>
          <a:solidFill>
            <a:srgbClr val="E30613"/>
          </a:solidFill>
          <a:ln/>
        </p:spPr>
        <p:txBody>
          <a:bodyPr wrap="square" lIns="35753" tIns="8448" rIns="35753" bIns="0" rtlCol="0" anchor="t">
            <a:normAutofit/>
          </a:bodyPr>
          <a:lstStyle/>
          <a:p>
            <a:pPr algn="ctr" indent="0" marL="0">
              <a:lnSpc>
                <a:spcPts val="1960"/>
              </a:lnSpc>
              <a:buNone/>
            </a:pPr>
            <a:r>
              <a:rPr lang="en-US" sz="1400" b="1" dirty="0">
                <a:solidFill>
                  <a:srgbClr val="F7FAFD"/>
                </a:solidFill>
                <a:latin typeface="Public Sans" pitchFamily="34" charset="0"/>
                <a:ea typeface="Public Sans" pitchFamily="34" charset="-122"/>
                <a:cs typeface="Public Sans" pitchFamily="34" charset="-120"/>
              </a:rPr>
              <a:t>Our tool sits here</a:t>
            </a:r>
            <a:endParaRPr lang="en-US" sz="1400" dirty="0"/>
          </a:p>
        </p:txBody>
      </p:sp>
      <p:sp>
        <p:nvSpPr>
          <p:cNvPr id="17" name="Text 14"/>
          <p:cNvSpPr/>
          <p:nvPr/>
        </p:nvSpPr>
        <p:spPr>
          <a:xfrm>
            <a:off x="7493000" y="1879600"/>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00511"/>
                </a:solidFill>
                <a:latin typeface="Public Sans" pitchFamily="34" charset="0"/>
                <a:ea typeface="Public Sans" pitchFamily="34" charset="-122"/>
                <a:cs typeface="Public Sans" pitchFamily="34" charset="-120"/>
              </a:rPr>
              <a:t>3</a:t>
            </a:r>
            <a:r>
              <a:rPr lang="en-US" sz="1200" dirty="0">
                <a:solidFill>
                  <a:srgbClr val="1E1650"/>
                </a:solidFill>
                <a:latin typeface="Public Sans" pitchFamily="34" charset="0"/>
                <a:ea typeface="Public Sans" pitchFamily="34" charset="-122"/>
                <a:cs typeface="Public Sans" pitchFamily="34" charset="-120"/>
              </a:rPr>
              <a:t> · Essential goods &amp; critical entities</a:t>
            </a:r>
            <a:endParaRPr lang="en-US" sz="1200" dirty="0"/>
          </a:p>
        </p:txBody>
      </p:sp>
      <p:sp>
        <p:nvSpPr>
          <p:cNvPr id="18" name="Text 15"/>
          <p:cNvSpPr/>
          <p:nvPr/>
        </p:nvSpPr>
        <p:spPr>
          <a:xfrm>
            <a:off x="7493000" y="2131060"/>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00511"/>
                </a:solidFill>
                <a:latin typeface="Public Sans" pitchFamily="34" charset="0"/>
                <a:ea typeface="Public Sans" pitchFamily="34" charset="-122"/>
                <a:cs typeface="Public Sans" pitchFamily="34" charset="-120"/>
              </a:rPr>
              <a:t>4</a:t>
            </a:r>
            <a:r>
              <a:rPr lang="en-US" sz="1200" dirty="0">
                <a:solidFill>
                  <a:srgbClr val="1E1650"/>
                </a:solidFill>
                <a:latin typeface="Public Sans" pitchFamily="34" charset="0"/>
                <a:ea typeface="Public Sans" pitchFamily="34" charset="-122"/>
                <a:cs typeface="Public Sans" pitchFamily="34" charset="-120"/>
              </a:rPr>
              <a:t> · A resilient economy</a:t>
            </a:r>
            <a:endParaRPr lang="en-US" sz="1200" dirty="0"/>
          </a:p>
        </p:txBody>
      </p:sp>
      <p:sp>
        <p:nvSpPr>
          <p:cNvPr id="19" name="Text 16"/>
          <p:cNvSpPr/>
          <p:nvPr/>
        </p:nvSpPr>
        <p:spPr>
          <a:xfrm>
            <a:off x="7493000" y="2382520"/>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00511"/>
                </a:solidFill>
                <a:latin typeface="Public Sans" pitchFamily="34" charset="0"/>
                <a:ea typeface="Public Sans" pitchFamily="34" charset="-122"/>
                <a:cs typeface="Public Sans" pitchFamily="34" charset="-120"/>
              </a:rPr>
              <a:t>5</a:t>
            </a:r>
            <a:r>
              <a:rPr lang="en-US" sz="1200" dirty="0">
                <a:solidFill>
                  <a:srgbClr val="1E1650"/>
                </a:solidFill>
                <a:latin typeface="Public Sans" pitchFamily="34" charset="0"/>
                <a:ea typeface="Public Sans" pitchFamily="34" charset="-122"/>
                <a:cs typeface="Public Sans" pitchFamily="34" charset="-120"/>
              </a:rPr>
              <a:t> · Strategic &amp; logistical resources</a:t>
            </a:r>
            <a:endParaRPr lang="en-US" sz="1200" dirty="0"/>
          </a:p>
        </p:txBody>
      </p:sp>
      <p:sp>
        <p:nvSpPr>
          <p:cNvPr id="20" name="Shape 17"/>
          <p:cNvSpPr/>
          <p:nvPr/>
        </p:nvSpPr>
        <p:spPr>
          <a:xfrm>
            <a:off x="7499350" y="2754630"/>
            <a:ext cx="3873500" cy="1360170"/>
          </a:xfrm>
          <a:prstGeom prst="rect">
            <a:avLst/>
          </a:prstGeom>
          <a:solidFill>
            <a:srgbClr val="FFFFFF"/>
          </a:solidFill>
          <a:ln w="12700">
            <a:solidFill>
              <a:srgbClr val="CFE3F3"/>
            </a:solidFill>
            <a:prstDash val="solid"/>
          </a:ln>
        </p:spPr>
      </p:sp>
      <p:sp>
        <p:nvSpPr>
          <p:cNvPr id="21" name="Text 18"/>
          <p:cNvSpPr/>
          <p:nvPr/>
        </p:nvSpPr>
        <p:spPr>
          <a:xfrm>
            <a:off x="7680960" y="2936240"/>
            <a:ext cx="361558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77B3"/>
                </a:solidFill>
                <a:latin typeface="Public Sans" pitchFamily="34" charset="0"/>
                <a:ea typeface="Public Sans" pitchFamily="34" charset="-122"/>
                <a:cs typeface="Public Sans" pitchFamily="34" charset="-120"/>
              </a:rPr>
              <a:t>PILLAR 4 · KEY ACTION 3</a:t>
            </a:r>
            <a:endParaRPr lang="en-US" sz="1200" dirty="0"/>
          </a:p>
        </p:txBody>
      </p:sp>
      <p:sp>
        <p:nvSpPr>
          <p:cNvPr id="22" name="Text 19"/>
          <p:cNvSpPr/>
          <p:nvPr/>
        </p:nvSpPr>
        <p:spPr>
          <a:xfrm>
            <a:off x="7680960" y="3213100"/>
            <a:ext cx="3615588"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650"/>
                </a:solidFill>
                <a:latin typeface="Public Sans" pitchFamily="34" charset="0"/>
                <a:ea typeface="Public Sans" pitchFamily="34" charset="-122"/>
                <a:cs typeface="Public Sans" pitchFamily="34" charset="-120"/>
              </a:rPr>
              <a:t>“A de-risking strategy and supply chain transparency will help to reduce critical dependencies.”</a:t>
            </a:r>
            <a:endParaRPr lang="en-US" sz="1400" dirty="0"/>
          </a:p>
        </p:txBody>
      </p:sp>
      <p:sp>
        <p:nvSpPr>
          <p:cNvPr id="23" name="Shape 20"/>
          <p:cNvSpPr/>
          <p:nvPr/>
        </p:nvSpPr>
        <p:spPr>
          <a:xfrm>
            <a:off x="7493000" y="4273550"/>
            <a:ext cx="3886200" cy="1416050"/>
          </a:xfrm>
          <a:prstGeom prst="rect">
            <a:avLst/>
          </a:prstGeom>
          <a:solidFill>
            <a:srgbClr val="1E1650"/>
          </a:solidFill>
          <a:ln/>
        </p:spPr>
      </p:sp>
      <p:sp>
        <p:nvSpPr>
          <p:cNvPr id="24" name="Shape 21"/>
          <p:cNvSpPr/>
          <p:nvPr/>
        </p:nvSpPr>
        <p:spPr>
          <a:xfrm>
            <a:off x="7524750" y="4273550"/>
            <a:ext cx="0" cy="1416050"/>
          </a:xfrm>
          <a:prstGeom prst="line">
            <a:avLst/>
          </a:prstGeom>
          <a:noFill/>
          <a:ln w="63500">
            <a:solidFill>
              <a:srgbClr val="0096D6"/>
            </a:solidFill>
            <a:prstDash val="solid"/>
          </a:ln>
        </p:spPr>
      </p:sp>
      <p:sp>
        <p:nvSpPr>
          <p:cNvPr id="25" name="Text 22"/>
          <p:cNvSpPr/>
          <p:nvPr/>
        </p:nvSpPr>
        <p:spPr>
          <a:xfrm>
            <a:off x="7731760" y="4451350"/>
            <a:ext cx="357372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CC8F0"/>
                </a:solidFill>
                <a:latin typeface="Public Sans" pitchFamily="34" charset="0"/>
                <a:ea typeface="Public Sans" pitchFamily="34" charset="-122"/>
                <a:cs typeface="Public Sans" pitchFamily="34" charset="-120"/>
              </a:rPr>
              <a:t>NEXT STEPS</a:t>
            </a:r>
            <a:endParaRPr lang="en-US" sz="1200" dirty="0"/>
          </a:p>
        </p:txBody>
      </p:sp>
      <p:sp>
        <p:nvSpPr>
          <p:cNvPr id="26" name="Text 23"/>
          <p:cNvSpPr/>
          <p:nvPr/>
        </p:nvSpPr>
        <p:spPr>
          <a:xfrm>
            <a:off x="7731760" y="4728210"/>
            <a:ext cx="3573729"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AFD"/>
                </a:solidFill>
                <a:latin typeface="Public Sans" pitchFamily="34" charset="0"/>
                <a:ea typeface="Public Sans" pitchFamily="34" charset="-122"/>
                <a:cs typeface="Public Sans" pitchFamily="34" charset="-120"/>
              </a:rPr>
              <a:t>“The country's level of resilience should be regularly assessed.”</a:t>
            </a:r>
            <a:endParaRPr lang="en-US" sz="1400" dirty="0"/>
          </a:p>
        </p:txBody>
      </p:sp>
      <p:sp>
        <p:nvSpPr>
          <p:cNvPr id="27" name="Text 24"/>
          <p:cNvSpPr/>
          <p:nvPr/>
        </p:nvSpPr>
        <p:spPr>
          <a:xfrm>
            <a:off x="7731760" y="5271770"/>
            <a:ext cx="364744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7CC8F0"/>
                </a:solidFill>
                <a:latin typeface="Public Sans" pitchFamily="34" charset="0"/>
                <a:ea typeface="Public Sans" pitchFamily="34" charset="-122"/>
                <a:cs typeface="Public Sans" pitchFamily="34" charset="-120"/>
              </a:rPr>
              <a:t>The Radar is that monitoring instrument.</a:t>
            </a:r>
            <a:endParaRPr lang="en-US" sz="1400" dirty="0"/>
          </a:p>
        </p:txBody>
      </p:sp>
      <p:sp>
        <p:nvSpPr>
          <p:cNvPr id="28" name="Text 25"/>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80"/>
                </a:solidFill>
                <a:latin typeface="Public Sans" pitchFamily="34" charset="0"/>
                <a:ea typeface="Public Sans" pitchFamily="34" charset="-122"/>
                <a:cs typeface="Public Sans" pitchFamily="34" charset="-120"/>
              </a:rPr>
              <a:t>Source: National Resilience Strategy (HCPN, approved 12 Sept 2025), pp. 9, 27, 42 · diagram redrawn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gradFill rotWithShape="1">
            <a:gsLst>
              <a:gs pos="0">
                <a:srgbClr val="E30613"/>
              </a:gs>
              <a:gs pos="50000">
                <a:srgbClr val="E30613"/>
              </a:gs>
              <a:gs pos="50000">
                <a:srgbClr val="0096D6"/>
              </a:gs>
              <a:gs pos="100000">
                <a:srgbClr val="0096D6"/>
              </a:gs>
            </a:gsLst>
            <a:lin ang="0" scaled="0"/>
          </a:gra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077B3"/>
                </a:solidFill>
                <a:latin typeface="Public Sans" pitchFamily="34" charset="0"/>
                <a:ea typeface="Public Sans" pitchFamily="34" charset="-122"/>
                <a:cs typeface="Public Sans" pitchFamily="34" charset="-120"/>
              </a:rPr>
              <a:t>THE IDEA · BUILT ON THE STRATEGY'S OWN DEFINITION</a:t>
            </a:r>
            <a:endParaRPr lang="en-US" sz="1200" dirty="0"/>
          </a:p>
        </p:txBody>
      </p:sp>
      <p:sp>
        <p:nvSpPr>
          <p:cNvPr id="4" name="Text 2"/>
          <p:cNvSpPr/>
          <p:nvPr>
            <p:ph type="title"/>
          </p:nvPr>
        </p:nvSpPr>
        <p:spPr>
          <a:xfrm>
            <a:off x="812800" y="1254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E1650"/>
                </a:solidFill>
                <a:latin typeface="Archivo" pitchFamily="34" charset="0"/>
                <a:ea typeface="Archivo" pitchFamily="34" charset="-122"/>
                <a:cs typeface="Archivo" pitchFamily="34" charset="-120"/>
              </a:rPr>
              <a:t>Resist. </a:t>
            </a:r>
            <a:r>
              <a:rPr lang="en-US" sz="3600" b="1" i="0" spc="-50" kern="0" dirty="0">
                <a:solidFill>
                  <a:srgbClr val="E30613"/>
                </a:solidFill>
                <a:latin typeface="Archivo" pitchFamily="34" charset="0"/>
                <a:ea typeface="Archivo" pitchFamily="34" charset="-122"/>
                <a:cs typeface="Archivo" pitchFamily="34" charset="-120"/>
              </a:rPr>
              <a:t>Adapt.</a:t>
            </a:r>
            <a:r>
              <a:rPr lang="en-US" sz="3600" b="1" i="0" spc="-50" kern="0" dirty="0">
                <a:solidFill>
                  <a:srgbClr val="1E1650"/>
                </a:solidFill>
                <a:latin typeface="Archivo" pitchFamily="34" charset="0"/>
                <a:ea typeface="Archivo" pitchFamily="34" charset="-122"/>
                <a:cs typeface="Archivo" pitchFamily="34" charset="-120"/>
              </a:rPr>
              <a:t> </a:t>
            </a:r>
            <a:r>
              <a:rPr lang="en-US" sz="3600" b="1" i="0" spc="-50" kern="0" dirty="0">
                <a:solidFill>
                  <a:srgbClr val="0096D6"/>
                </a:solidFill>
                <a:latin typeface="Archivo" pitchFamily="34" charset="0"/>
                <a:ea typeface="Archivo" pitchFamily="34" charset="-122"/>
                <a:cs typeface="Archivo" pitchFamily="34" charset="-120"/>
              </a:rPr>
              <a:t>Recover.</a:t>
            </a:r>
            <a:endParaRPr lang="en-US" sz="3600" dirty="0"/>
          </a:p>
        </p:txBody>
      </p:sp>
      <p:sp>
        <p:nvSpPr>
          <p:cNvPr id="5" name="Shape 3"/>
          <p:cNvSpPr/>
          <p:nvPr/>
        </p:nvSpPr>
        <p:spPr>
          <a:xfrm>
            <a:off x="819150" y="1992630"/>
            <a:ext cx="3373914" cy="1983740"/>
          </a:xfrm>
          <a:prstGeom prst="rect">
            <a:avLst/>
          </a:prstGeom>
          <a:solidFill>
            <a:srgbClr val="FFFFFF"/>
          </a:solidFill>
          <a:ln w="12700">
            <a:solidFill>
              <a:srgbClr val="CFE3F3"/>
            </a:solidFill>
            <a:prstDash val="solid"/>
          </a:ln>
        </p:spPr>
      </p:sp>
      <p:sp>
        <p:nvSpPr>
          <p:cNvPr id="6" name="Text 4"/>
          <p:cNvSpPr/>
          <p:nvPr/>
        </p:nvSpPr>
        <p:spPr>
          <a:xfrm>
            <a:off x="1051560" y="2225041"/>
            <a:ext cx="299636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1650"/>
                </a:solidFill>
                <a:latin typeface="Archivo" pitchFamily="34" charset="0"/>
                <a:ea typeface="Archivo" pitchFamily="34" charset="-122"/>
                <a:cs typeface="Archivo" pitchFamily="34" charset="-120"/>
              </a:rPr>
              <a:t>Resist</a:t>
            </a:r>
            <a:endParaRPr lang="en-US" sz="2200" dirty="0"/>
          </a:p>
        </p:txBody>
      </p:sp>
      <p:sp>
        <p:nvSpPr>
          <p:cNvPr id="7" name="Text 5"/>
          <p:cNvSpPr/>
          <p:nvPr/>
        </p:nvSpPr>
        <p:spPr>
          <a:xfrm>
            <a:off x="1051560" y="2649220"/>
            <a:ext cx="29963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650"/>
                </a:solidFill>
                <a:latin typeface="Public Sans" pitchFamily="34" charset="0"/>
                <a:ea typeface="Public Sans" pitchFamily="34" charset="-122"/>
                <a:cs typeface="Public Sans" pitchFamily="34" charset="-120"/>
              </a:rPr>
              <a:t>How spread out are our suppliers per product?</a:t>
            </a:r>
            <a:endParaRPr lang="en-US" sz="1200" dirty="0"/>
          </a:p>
        </p:txBody>
      </p:sp>
      <p:sp>
        <p:nvSpPr>
          <p:cNvPr id="8" name="Text 6"/>
          <p:cNvSpPr/>
          <p:nvPr/>
        </p:nvSpPr>
        <p:spPr>
          <a:xfrm>
            <a:off x="1051560" y="3164841"/>
            <a:ext cx="2909094" cy="579120"/>
          </a:xfrm>
          <a:prstGeom prst="roundRect">
            <a:avLst>
              <a:gd name="adj" fmla="val 8772"/>
            </a:avLst>
          </a:prstGeom>
          <a:solidFill>
            <a:srgbClr val="E6F2FB"/>
          </a:solidFill>
          <a:ln/>
        </p:spPr>
        <p:txBody>
          <a:bodyPr wrap="square" lIns="86721" tIns="61321" rIns="5544" bIns="35921" rtlCol="0" anchor="t">
            <a:normAutofit/>
          </a:bodyPr>
          <a:lstStyle/>
          <a:p>
            <a:pPr algn="l" indent="0" marL="0">
              <a:lnSpc>
                <a:spcPts val="1680"/>
              </a:lnSpc>
              <a:buNone/>
            </a:pPr>
            <a:r>
              <a:rPr lang="en-US" sz="1200" b="1" dirty="0">
                <a:solidFill>
                  <a:srgbClr val="1E1650"/>
                </a:solidFill>
                <a:latin typeface="Public Sans" pitchFamily="34" charset="0"/>
                <a:ea typeface="Public Sans" pitchFamily="34" charset="-122"/>
                <a:cs typeface="Public Sans" pitchFamily="34" charset="-120"/>
              </a:rPr>
              <a:t>Metric:</a:t>
            </a:r>
            <a:r>
              <a:rPr lang="en-US" sz="1200" dirty="0">
                <a:solidFill>
                  <a:srgbClr val="1E1650"/>
                </a:solidFill>
                <a:latin typeface="Public Sans" pitchFamily="34" charset="0"/>
                <a:ea typeface="Public Sans" pitchFamily="34" charset="-122"/>
                <a:cs typeface="Public Sans" pitchFamily="34" charset="-120"/>
              </a:rPr>
              <a:t> supplier concentration (HHI), extra-EU share · </a:t>
            </a:r>
            <a:r>
              <a:rPr lang="en-US" sz="1200" b="1" dirty="0">
                <a:solidFill>
                  <a:srgbClr val="1E1650"/>
                </a:solidFill>
                <a:latin typeface="Public Sans" pitchFamily="34" charset="0"/>
                <a:ea typeface="Public Sans" pitchFamily="34" charset="-122"/>
                <a:cs typeface="Public Sans" pitchFamily="34" charset="-120"/>
              </a:rPr>
              <a:t>Map</a:t>
            </a:r>
            <a:endParaRPr lang="en-US" sz="1200" dirty="0"/>
          </a:p>
        </p:txBody>
      </p:sp>
      <p:sp>
        <p:nvSpPr>
          <p:cNvPr id="9" name="Shape 7"/>
          <p:cNvSpPr/>
          <p:nvPr/>
        </p:nvSpPr>
        <p:spPr>
          <a:xfrm>
            <a:off x="4408964" y="1992630"/>
            <a:ext cx="3373993" cy="1983740"/>
          </a:xfrm>
          <a:prstGeom prst="rect">
            <a:avLst/>
          </a:prstGeom>
          <a:solidFill>
            <a:srgbClr val="FFFFFF"/>
          </a:solidFill>
          <a:ln w="12700">
            <a:solidFill>
              <a:srgbClr val="CFE3F3"/>
            </a:solidFill>
            <a:prstDash val="solid"/>
          </a:ln>
        </p:spPr>
      </p:sp>
      <p:sp>
        <p:nvSpPr>
          <p:cNvPr id="10" name="Text 8"/>
          <p:cNvSpPr/>
          <p:nvPr/>
        </p:nvSpPr>
        <p:spPr>
          <a:xfrm>
            <a:off x="4641374" y="2225041"/>
            <a:ext cx="299644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00511"/>
                </a:solidFill>
                <a:latin typeface="Archivo" pitchFamily="34" charset="0"/>
                <a:ea typeface="Archivo" pitchFamily="34" charset="-122"/>
                <a:cs typeface="Archivo" pitchFamily="34" charset="-120"/>
              </a:rPr>
              <a:t>Adapt</a:t>
            </a:r>
            <a:endParaRPr lang="en-US" sz="2200" dirty="0"/>
          </a:p>
        </p:txBody>
      </p:sp>
      <p:sp>
        <p:nvSpPr>
          <p:cNvPr id="11" name="Text 9"/>
          <p:cNvSpPr/>
          <p:nvPr/>
        </p:nvSpPr>
        <p:spPr>
          <a:xfrm>
            <a:off x="4641374" y="2649220"/>
            <a:ext cx="29964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650"/>
                </a:solidFill>
                <a:latin typeface="Public Sans" pitchFamily="34" charset="0"/>
                <a:ea typeface="Public Sans" pitchFamily="34" charset="-122"/>
                <a:cs typeface="Public Sans" pitchFamily="34" charset="-120"/>
              </a:rPr>
              <a:t>When a source fails, do we switch to others?</a:t>
            </a:r>
            <a:endParaRPr lang="en-US" sz="1200" dirty="0"/>
          </a:p>
        </p:txBody>
      </p:sp>
      <p:sp>
        <p:nvSpPr>
          <p:cNvPr id="12" name="Text 10"/>
          <p:cNvSpPr/>
          <p:nvPr/>
        </p:nvSpPr>
        <p:spPr>
          <a:xfrm>
            <a:off x="4641374" y="3164841"/>
            <a:ext cx="2909173" cy="579120"/>
          </a:xfrm>
          <a:prstGeom prst="roundRect">
            <a:avLst>
              <a:gd name="adj" fmla="val 8772"/>
            </a:avLst>
          </a:prstGeom>
          <a:solidFill>
            <a:srgbClr val="E6F2FB"/>
          </a:solidFill>
          <a:ln/>
        </p:spPr>
        <p:txBody>
          <a:bodyPr wrap="square" lIns="86721" tIns="61321" rIns="5542" bIns="35921" rtlCol="0" anchor="t">
            <a:normAutofit/>
          </a:bodyPr>
          <a:lstStyle/>
          <a:p>
            <a:pPr algn="l" indent="0" marL="0">
              <a:lnSpc>
                <a:spcPts val="1680"/>
              </a:lnSpc>
              <a:buNone/>
            </a:pPr>
            <a:r>
              <a:rPr lang="en-US" sz="1200" b="1" dirty="0">
                <a:solidFill>
                  <a:srgbClr val="1E1650"/>
                </a:solidFill>
                <a:latin typeface="Public Sans" pitchFamily="34" charset="0"/>
                <a:ea typeface="Public Sans" pitchFamily="34" charset="-122"/>
                <a:cs typeface="Public Sans" pitchFamily="34" charset="-120"/>
              </a:rPr>
              <a:t>Metric:</a:t>
            </a:r>
            <a:r>
              <a:rPr lang="en-US" sz="1200" dirty="0">
                <a:solidFill>
                  <a:srgbClr val="1E1650"/>
                </a:solidFill>
                <a:latin typeface="Public Sans" pitchFamily="34" charset="0"/>
                <a:ea typeface="Public Sans" pitchFamily="34" charset="-122"/>
                <a:cs typeface="Public Sans" pitchFamily="34" charset="-120"/>
              </a:rPr>
              <a:t> shift in partner shares after a shock · </a:t>
            </a:r>
            <a:r>
              <a:rPr lang="en-US" sz="1200" b="1" dirty="0">
                <a:solidFill>
                  <a:srgbClr val="1E1650"/>
                </a:solidFill>
                <a:latin typeface="Public Sans" pitchFamily="34" charset="0"/>
                <a:ea typeface="Public Sans" pitchFamily="34" charset="-122"/>
                <a:cs typeface="Public Sans" pitchFamily="34" charset="-120"/>
              </a:rPr>
              <a:t>Flows</a:t>
            </a:r>
            <a:endParaRPr lang="en-US" sz="1200" dirty="0"/>
          </a:p>
        </p:txBody>
      </p:sp>
      <p:sp>
        <p:nvSpPr>
          <p:cNvPr id="13" name="Shape 11"/>
          <p:cNvSpPr/>
          <p:nvPr/>
        </p:nvSpPr>
        <p:spPr>
          <a:xfrm>
            <a:off x="7998857" y="1992630"/>
            <a:ext cx="3373993" cy="1983740"/>
          </a:xfrm>
          <a:prstGeom prst="rect">
            <a:avLst/>
          </a:prstGeom>
          <a:solidFill>
            <a:srgbClr val="FFFFFF"/>
          </a:solidFill>
          <a:ln w="12700">
            <a:solidFill>
              <a:srgbClr val="CFE3F3"/>
            </a:solidFill>
            <a:prstDash val="solid"/>
          </a:ln>
        </p:spPr>
      </p:sp>
      <p:sp>
        <p:nvSpPr>
          <p:cNvPr id="14" name="Text 12"/>
          <p:cNvSpPr/>
          <p:nvPr/>
        </p:nvSpPr>
        <p:spPr>
          <a:xfrm>
            <a:off x="8231267" y="2225041"/>
            <a:ext cx="299644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77B3"/>
                </a:solidFill>
                <a:latin typeface="Archivo" pitchFamily="34" charset="0"/>
                <a:ea typeface="Archivo" pitchFamily="34" charset="-122"/>
                <a:cs typeface="Archivo" pitchFamily="34" charset="-120"/>
              </a:rPr>
              <a:t>Recover</a:t>
            </a:r>
            <a:endParaRPr lang="en-US" sz="2200" dirty="0"/>
          </a:p>
        </p:txBody>
      </p:sp>
      <p:sp>
        <p:nvSpPr>
          <p:cNvPr id="15" name="Text 13"/>
          <p:cNvSpPr/>
          <p:nvPr/>
        </p:nvSpPr>
        <p:spPr>
          <a:xfrm>
            <a:off x="8231267" y="2649220"/>
            <a:ext cx="29964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650"/>
                </a:solidFill>
                <a:latin typeface="Public Sans" pitchFamily="34" charset="0"/>
                <a:ea typeface="Public Sans" pitchFamily="34" charset="-122"/>
                <a:cs typeface="Public Sans" pitchFamily="34" charset="-120"/>
              </a:rPr>
              <a:t>How fast do flows return to normal?</a:t>
            </a:r>
            <a:endParaRPr lang="en-US" sz="1200" dirty="0"/>
          </a:p>
        </p:txBody>
      </p:sp>
      <p:sp>
        <p:nvSpPr>
          <p:cNvPr id="16" name="Text 14"/>
          <p:cNvSpPr/>
          <p:nvPr/>
        </p:nvSpPr>
        <p:spPr>
          <a:xfrm>
            <a:off x="8231267" y="2951480"/>
            <a:ext cx="2909173" cy="579120"/>
          </a:xfrm>
          <a:prstGeom prst="roundRect">
            <a:avLst>
              <a:gd name="adj" fmla="val 8772"/>
            </a:avLst>
          </a:prstGeom>
          <a:solidFill>
            <a:srgbClr val="E6F2FB"/>
          </a:solidFill>
          <a:ln/>
        </p:spPr>
        <p:txBody>
          <a:bodyPr wrap="square" lIns="86721" tIns="61321" rIns="5542" bIns="35921" rtlCol="0" anchor="t">
            <a:normAutofit/>
          </a:bodyPr>
          <a:lstStyle/>
          <a:p>
            <a:pPr algn="l" indent="0" marL="0">
              <a:lnSpc>
                <a:spcPts val="1680"/>
              </a:lnSpc>
              <a:buNone/>
            </a:pPr>
            <a:r>
              <a:rPr lang="en-US" sz="1200" b="1" dirty="0">
                <a:solidFill>
                  <a:srgbClr val="1E1650"/>
                </a:solidFill>
                <a:latin typeface="Public Sans" pitchFamily="34" charset="0"/>
                <a:ea typeface="Public Sans" pitchFamily="34" charset="-122"/>
                <a:cs typeface="Public Sans" pitchFamily="34" charset="-120"/>
              </a:rPr>
              <a:t>Metric:</a:t>
            </a:r>
            <a:r>
              <a:rPr lang="en-US" sz="1200" dirty="0">
                <a:solidFill>
                  <a:srgbClr val="1E1650"/>
                </a:solidFill>
                <a:latin typeface="Public Sans" pitchFamily="34" charset="0"/>
                <a:ea typeface="Public Sans" pitchFamily="34" charset="-122"/>
                <a:cs typeface="Public Sans" pitchFamily="34" charset="-120"/>
              </a:rPr>
              <a:t> months back to pre-shock level, seasonally adjusted · </a:t>
            </a:r>
            <a:r>
              <a:rPr lang="en-US" sz="1200" b="1" dirty="0">
                <a:solidFill>
                  <a:srgbClr val="1E1650"/>
                </a:solidFill>
                <a:latin typeface="Public Sans" pitchFamily="34" charset="0"/>
                <a:ea typeface="Public Sans" pitchFamily="34" charset="-122"/>
                <a:cs typeface="Public Sans" pitchFamily="34" charset="-120"/>
              </a:rPr>
              <a:t>Time</a:t>
            </a:r>
            <a:endParaRPr lang="en-US" sz="1200" dirty="0"/>
          </a:p>
        </p:txBody>
      </p:sp>
      <p:sp>
        <p:nvSpPr>
          <p:cNvPr id="17" name="Text 15"/>
          <p:cNvSpPr/>
          <p:nvPr/>
        </p:nvSpPr>
        <p:spPr>
          <a:xfrm>
            <a:off x="812800" y="4224655"/>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77B3"/>
                </a:solidFill>
                <a:latin typeface="Public Sans" pitchFamily="34" charset="0"/>
                <a:ea typeface="Public Sans" pitchFamily="34" charset="-122"/>
                <a:cs typeface="Public Sans" pitchFamily="34" charset="-120"/>
              </a:rPr>
              <a:t>BASKETS</a:t>
            </a:r>
            <a:endParaRPr lang="en-US" sz="1200" dirty="0"/>
          </a:p>
        </p:txBody>
      </p:sp>
      <p:sp>
        <p:nvSpPr>
          <p:cNvPr id="18" name="Text 16"/>
          <p:cNvSpPr/>
          <p:nvPr/>
        </p:nvSpPr>
        <p:spPr>
          <a:xfrm>
            <a:off x="2717800" y="4211320"/>
            <a:ext cx="892124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650"/>
                </a:solidFill>
                <a:latin typeface="Public Sans" pitchFamily="34" charset="0"/>
                <a:ea typeface="Public Sans" pitchFamily="34" charset="-122"/>
                <a:cs typeface="Public Sans" pitchFamily="34" charset="-120"/>
              </a:rPr>
              <a:t>Energy · Food · Health &amp; medicines · Raw materials · Tech </a:t>
            </a:r>
            <a:r>
              <a:rPr lang="en-US" sz="1400" dirty="0">
                <a:solidFill>
                  <a:srgbClr val="5A5680"/>
                </a:solidFill>
                <a:latin typeface="Public Sans" pitchFamily="34" charset="0"/>
                <a:ea typeface="Public Sans" pitchFamily="34" charset="-122"/>
                <a:cs typeface="Public Sans" pitchFamily="34" charset="-120"/>
              </a:rPr>
              <a:t>(from Pillar 3)</a:t>
            </a:r>
            <a:endParaRPr lang="en-US" sz="1400" dirty="0"/>
          </a:p>
        </p:txBody>
      </p:sp>
      <p:sp>
        <p:nvSpPr>
          <p:cNvPr id="19" name="Text 17"/>
          <p:cNvSpPr/>
          <p:nvPr/>
        </p:nvSpPr>
        <p:spPr>
          <a:xfrm>
            <a:off x="812800" y="4464686"/>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77B3"/>
                </a:solidFill>
                <a:latin typeface="Public Sans" pitchFamily="34" charset="0"/>
                <a:ea typeface="Public Sans" pitchFamily="34" charset="-122"/>
                <a:cs typeface="Public Sans" pitchFamily="34" charset="-120"/>
              </a:rPr>
              <a:t>STRESS TESTS</a:t>
            </a:r>
            <a:endParaRPr lang="en-US" sz="1200" dirty="0"/>
          </a:p>
        </p:txBody>
      </p:sp>
      <p:sp>
        <p:nvSpPr>
          <p:cNvPr id="20" name="Text 18"/>
          <p:cNvSpPr/>
          <p:nvPr/>
        </p:nvSpPr>
        <p:spPr>
          <a:xfrm>
            <a:off x="2717800" y="4451350"/>
            <a:ext cx="892124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650"/>
                </a:solidFill>
                <a:latin typeface="Public Sans" pitchFamily="34" charset="0"/>
                <a:ea typeface="Public Sans" pitchFamily="34" charset="-122"/>
                <a:cs typeface="Public Sans" pitchFamily="34" charset="-120"/>
              </a:rPr>
              <a:t>COVID 2020 · Gas crisis 2022 · Hormuz 2026</a:t>
            </a:r>
            <a:endParaRPr lang="en-US" sz="1400" dirty="0"/>
          </a:p>
        </p:txBody>
      </p:sp>
      <p:sp>
        <p:nvSpPr>
          <p:cNvPr id="21" name="Text 19"/>
          <p:cNvSpPr/>
          <p:nvPr/>
        </p:nvSpPr>
        <p:spPr>
          <a:xfrm>
            <a:off x="812800" y="4704716"/>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77B3"/>
                </a:solidFill>
                <a:latin typeface="Public Sans" pitchFamily="34" charset="0"/>
                <a:ea typeface="Public Sans" pitchFamily="34" charset="-122"/>
                <a:cs typeface="Public Sans" pitchFamily="34" charset="-120"/>
              </a:rPr>
              <a:t>DRILL-DOWN</a:t>
            </a:r>
            <a:endParaRPr lang="en-US" sz="1200" dirty="0"/>
          </a:p>
        </p:txBody>
      </p:sp>
      <p:sp>
        <p:nvSpPr>
          <p:cNvPr id="22" name="Text 20"/>
          <p:cNvSpPr/>
          <p:nvPr/>
        </p:nvSpPr>
        <p:spPr>
          <a:xfrm>
            <a:off x="2717800" y="4691380"/>
            <a:ext cx="892124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650"/>
                </a:solidFill>
                <a:latin typeface="Public Sans" pitchFamily="34" charset="0"/>
                <a:ea typeface="Public Sans" pitchFamily="34" charset="-122"/>
                <a:cs typeface="Public Sans" pitchFamily="34" charset="-120"/>
              </a:rPr>
              <a:t>Basket → partner → product, HS2 down to CN8</a:t>
            </a:r>
            <a:endParaRPr lang="en-US" sz="1400" dirty="0"/>
          </a:p>
        </p:txBody>
      </p:sp>
      <p:sp>
        <p:nvSpPr>
          <p:cNvPr id="23" name="Text 21"/>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80"/>
                </a:solidFill>
                <a:latin typeface="Public Sans" pitchFamily="34" charset="0"/>
                <a:ea typeface="Public Sans" pitchFamily="34" charset="-122"/>
                <a:cs typeface="Public Sans" pitchFamily="34" charset="-120"/>
              </a:rPr>
              <a:t>Definition: "the ability of a system to resist, adapt and recover from disruptions" (National Resilience Strategy, 2025) · Data: Eurostat ds-045409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650"/>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gradFill rotWithShape="1">
            <a:gsLst>
              <a:gs pos="0">
                <a:srgbClr val="E30613"/>
              </a:gs>
              <a:gs pos="50000">
                <a:srgbClr val="E30613"/>
              </a:gs>
              <a:gs pos="50000">
                <a:srgbClr val="0096D6"/>
              </a:gs>
              <a:gs pos="100000">
                <a:srgbClr val="0096D6"/>
              </a:gs>
            </a:gsLst>
            <a:lin ang="0" scaled="0"/>
          </a:gra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CC8F0"/>
                </a:solidFill>
                <a:latin typeface="Public Sans" pitchFamily="34" charset="0"/>
                <a:ea typeface="Public Sans" pitchFamily="34" charset="-122"/>
                <a:cs typeface="Public Sans" pitchFamily="34" charset="-120"/>
              </a:rPr>
              <a:t>THE PLAN · DEMO BY FRIDAY 10:30</a:t>
            </a:r>
            <a:endParaRPr lang="en-US" sz="1200" dirty="0"/>
          </a:p>
        </p:txBody>
      </p:sp>
      <p:sp>
        <p:nvSpPr>
          <p:cNvPr id="4" name="Text 2"/>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7FAFD"/>
                </a:solidFill>
                <a:latin typeface="Archivo" pitchFamily="34" charset="0"/>
                <a:ea typeface="Archivo" pitchFamily="34" charset="-122"/>
                <a:cs typeface="Archivo" pitchFamily="34" charset="-120"/>
              </a:rPr>
              <a:t>Four workstreams, four known risks</a:t>
            </a:r>
            <a:endParaRPr lang="en-US" sz="3600" dirty="0"/>
          </a:p>
        </p:txBody>
      </p:sp>
      <p:sp>
        <p:nvSpPr>
          <p:cNvPr id="5" name="Shape 3"/>
          <p:cNvSpPr/>
          <p:nvPr/>
        </p:nvSpPr>
        <p:spPr>
          <a:xfrm>
            <a:off x="838200" y="2037080"/>
            <a:ext cx="0" cy="546100"/>
          </a:xfrm>
          <a:prstGeom prst="line">
            <a:avLst/>
          </a:prstGeom>
          <a:noFill/>
          <a:ln w="50800">
            <a:solidFill>
              <a:srgbClr val="E30613"/>
            </a:solidFill>
            <a:prstDash val="solid"/>
          </a:ln>
        </p:spPr>
      </p:sp>
      <p:sp>
        <p:nvSpPr>
          <p:cNvPr id="6" name="Text 4"/>
          <p:cNvSpPr/>
          <p:nvPr/>
        </p:nvSpPr>
        <p:spPr>
          <a:xfrm>
            <a:off x="1016000" y="2062480"/>
            <a:ext cx="48399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AFD"/>
                </a:solidFill>
                <a:latin typeface="Archivo" pitchFamily="34" charset="0"/>
                <a:ea typeface="Archivo" pitchFamily="34" charset="-122"/>
                <a:cs typeface="Archivo" pitchFamily="34" charset="-120"/>
              </a:rPr>
              <a:t>Data · [names]</a:t>
            </a:r>
            <a:endParaRPr lang="en-US" sz="1600" dirty="0"/>
          </a:p>
        </p:txBody>
      </p:sp>
      <p:sp>
        <p:nvSpPr>
          <p:cNvPr id="7" name="Text 5"/>
          <p:cNvSpPr/>
          <p:nvPr/>
        </p:nvSpPr>
        <p:spPr>
          <a:xfrm>
            <a:off x="1016000" y="234442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E"/>
                </a:solidFill>
                <a:latin typeface="Public Sans" pitchFamily="34" charset="0"/>
                <a:ea typeface="Public Sans" pitchFamily="34" charset="-122"/>
                <a:cs typeface="Public Sans" pitchFamily="34" charset="-120"/>
              </a:rPr>
              <a:t>Eurostat extract: LU, neighbours, EU27, from 1999, monthly</a:t>
            </a:r>
            <a:endParaRPr lang="en-US" sz="1200" dirty="0"/>
          </a:p>
        </p:txBody>
      </p:sp>
      <p:sp>
        <p:nvSpPr>
          <p:cNvPr id="8" name="Shape 6"/>
          <p:cNvSpPr/>
          <p:nvPr/>
        </p:nvSpPr>
        <p:spPr>
          <a:xfrm>
            <a:off x="838200" y="2710180"/>
            <a:ext cx="0" cy="546100"/>
          </a:xfrm>
          <a:prstGeom prst="line">
            <a:avLst/>
          </a:prstGeom>
          <a:noFill/>
          <a:ln w="50800">
            <a:solidFill>
              <a:srgbClr val="E30613"/>
            </a:solidFill>
            <a:prstDash val="solid"/>
          </a:ln>
        </p:spPr>
      </p:sp>
      <p:sp>
        <p:nvSpPr>
          <p:cNvPr id="9" name="Text 7"/>
          <p:cNvSpPr/>
          <p:nvPr/>
        </p:nvSpPr>
        <p:spPr>
          <a:xfrm>
            <a:off x="1016000" y="2735580"/>
            <a:ext cx="48399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AFD"/>
                </a:solidFill>
                <a:latin typeface="Archivo" pitchFamily="34" charset="0"/>
                <a:ea typeface="Archivo" pitchFamily="34" charset="-122"/>
                <a:cs typeface="Archivo" pitchFamily="34" charset="-120"/>
              </a:rPr>
              <a:t>Metrics · [names]</a:t>
            </a:r>
            <a:endParaRPr lang="en-US" sz="1600" dirty="0"/>
          </a:p>
        </p:txBody>
      </p:sp>
      <p:sp>
        <p:nvSpPr>
          <p:cNvPr id="10" name="Text 8"/>
          <p:cNvSpPr/>
          <p:nvPr/>
        </p:nvSpPr>
        <p:spPr>
          <a:xfrm>
            <a:off x="1016000" y="301752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E"/>
                </a:solidFill>
                <a:latin typeface="Public Sans" pitchFamily="34" charset="0"/>
                <a:ea typeface="Public Sans" pitchFamily="34" charset="-122"/>
                <a:cs typeface="Public Sans" pitchFamily="34" charset="-120"/>
              </a:rPr>
              <a:t>HHI, partner shifts, seasonal adjustment, recovery time</a:t>
            </a:r>
            <a:endParaRPr lang="en-US" sz="1200" dirty="0"/>
          </a:p>
        </p:txBody>
      </p:sp>
      <p:sp>
        <p:nvSpPr>
          <p:cNvPr id="11" name="Shape 9"/>
          <p:cNvSpPr/>
          <p:nvPr/>
        </p:nvSpPr>
        <p:spPr>
          <a:xfrm>
            <a:off x="838200" y="3383280"/>
            <a:ext cx="0" cy="546100"/>
          </a:xfrm>
          <a:prstGeom prst="line">
            <a:avLst/>
          </a:prstGeom>
          <a:noFill/>
          <a:ln w="50800">
            <a:solidFill>
              <a:srgbClr val="0096D6"/>
            </a:solidFill>
            <a:prstDash val="solid"/>
          </a:ln>
        </p:spPr>
      </p:sp>
      <p:sp>
        <p:nvSpPr>
          <p:cNvPr id="12" name="Text 10"/>
          <p:cNvSpPr/>
          <p:nvPr/>
        </p:nvSpPr>
        <p:spPr>
          <a:xfrm>
            <a:off x="1016000" y="3408680"/>
            <a:ext cx="48399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AFD"/>
                </a:solidFill>
                <a:latin typeface="Archivo" pitchFamily="34" charset="0"/>
                <a:ea typeface="Archivo" pitchFamily="34" charset="-122"/>
                <a:cs typeface="Archivo" pitchFamily="34" charset="-120"/>
              </a:rPr>
              <a:t>App · Martin + Nour</a:t>
            </a:r>
            <a:endParaRPr lang="en-US" sz="1600" dirty="0"/>
          </a:p>
        </p:txBody>
      </p:sp>
      <p:sp>
        <p:nvSpPr>
          <p:cNvPr id="13" name="Text 11"/>
          <p:cNvSpPr/>
          <p:nvPr/>
        </p:nvSpPr>
        <p:spPr>
          <a:xfrm>
            <a:off x="1016000" y="369062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E"/>
                </a:solidFill>
                <a:latin typeface="Public Sans" pitchFamily="34" charset="0"/>
                <a:ea typeface="Public Sans" pitchFamily="34" charset="-122"/>
                <a:cs typeface="Public Sans" pitchFamily="34" charset="-120"/>
              </a:rPr>
              <a:t>Interactive radar, map, drill-down; open repo, EUPL-1.2</a:t>
            </a:r>
            <a:endParaRPr lang="en-US" sz="1200" dirty="0"/>
          </a:p>
        </p:txBody>
      </p:sp>
      <p:sp>
        <p:nvSpPr>
          <p:cNvPr id="14" name="Shape 12"/>
          <p:cNvSpPr/>
          <p:nvPr/>
        </p:nvSpPr>
        <p:spPr>
          <a:xfrm>
            <a:off x="838200" y="4056380"/>
            <a:ext cx="0" cy="546100"/>
          </a:xfrm>
          <a:prstGeom prst="line">
            <a:avLst/>
          </a:prstGeom>
          <a:noFill/>
          <a:ln w="50800">
            <a:solidFill>
              <a:srgbClr val="0096D6"/>
            </a:solidFill>
            <a:prstDash val="solid"/>
          </a:ln>
        </p:spPr>
      </p:sp>
      <p:sp>
        <p:nvSpPr>
          <p:cNvPr id="15" name="Text 13"/>
          <p:cNvSpPr/>
          <p:nvPr/>
        </p:nvSpPr>
        <p:spPr>
          <a:xfrm>
            <a:off x="1016000" y="4081780"/>
            <a:ext cx="48399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AFD"/>
                </a:solidFill>
                <a:latin typeface="Archivo" pitchFamily="34" charset="0"/>
                <a:ea typeface="Archivo" pitchFamily="34" charset="-122"/>
                <a:cs typeface="Archivo" pitchFamily="34" charset="-120"/>
              </a:rPr>
              <a:t>Pitch · [name]</a:t>
            </a:r>
            <a:endParaRPr lang="en-US" sz="1600" dirty="0"/>
          </a:p>
        </p:txBody>
      </p:sp>
      <p:sp>
        <p:nvSpPr>
          <p:cNvPr id="16" name="Text 14"/>
          <p:cNvSpPr/>
          <p:nvPr/>
        </p:nvSpPr>
        <p:spPr>
          <a:xfrm>
            <a:off x="1016000" y="4363720"/>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E"/>
                </a:solidFill>
                <a:latin typeface="Public Sans" pitchFamily="34" charset="0"/>
                <a:ea typeface="Public Sans" pitchFamily="34" charset="-122"/>
                <a:cs typeface="Public Sans" pitchFamily="34" charset="-120"/>
              </a:rPr>
              <a:t>Story and deck; coaching slot Thursday from 13:00</a:t>
            </a:r>
            <a:endParaRPr lang="en-US" sz="1200" dirty="0"/>
          </a:p>
        </p:txBody>
      </p:sp>
      <p:sp>
        <p:nvSpPr>
          <p:cNvPr id="17" name="Shape 15"/>
          <p:cNvSpPr/>
          <p:nvPr/>
        </p:nvSpPr>
        <p:spPr>
          <a:xfrm>
            <a:off x="6019800" y="2037080"/>
            <a:ext cx="5359400" cy="2600960"/>
          </a:xfrm>
          <a:prstGeom prst="roundRect">
            <a:avLst>
              <a:gd name="adj" fmla="val 2930"/>
            </a:avLst>
          </a:prstGeom>
          <a:solidFill>
            <a:srgbClr val="2A2266"/>
          </a:solidFill>
          <a:ln/>
        </p:spPr>
      </p:sp>
      <p:sp>
        <p:nvSpPr>
          <p:cNvPr id="18" name="Text 16"/>
          <p:cNvSpPr/>
          <p:nvPr/>
        </p:nvSpPr>
        <p:spPr>
          <a:xfrm>
            <a:off x="6248400" y="2265680"/>
            <a:ext cx="504926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CC8F0"/>
                </a:solidFill>
                <a:latin typeface="Archivo" pitchFamily="34" charset="0"/>
                <a:ea typeface="Archivo" pitchFamily="34" charset="-122"/>
                <a:cs typeface="Archivo" pitchFamily="34" charset="-120"/>
              </a:rPr>
              <a:t>Risks we name upfront</a:t>
            </a:r>
            <a:endParaRPr lang="en-US" sz="1600" dirty="0"/>
          </a:p>
        </p:txBody>
      </p:sp>
      <p:sp>
        <p:nvSpPr>
          <p:cNvPr id="19" name="Text 17"/>
          <p:cNvSpPr/>
          <p:nvPr/>
        </p:nvSpPr>
        <p:spPr>
          <a:xfrm>
            <a:off x="6248400" y="2611120"/>
            <a:ext cx="504926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AFD"/>
                </a:solidFill>
                <a:latin typeface="Public Sans" pitchFamily="34" charset="0"/>
                <a:ea typeface="Public Sans" pitchFamily="34" charset="-122"/>
                <a:cs typeface="Public Sans" pitchFamily="34" charset="-120"/>
              </a:rPr>
              <a:t>Partner ≠ origin.</a:t>
            </a:r>
            <a:r>
              <a:rPr lang="en-US" sz="1200" dirty="0">
                <a:solidFill>
                  <a:srgbClr val="F7FAFD"/>
                </a:solidFill>
                <a:latin typeface="Public Sans" pitchFamily="34" charset="0"/>
                <a:ea typeface="Public Sans" pitchFamily="34" charset="-122"/>
                <a:cs typeface="Public Sans" pitchFamily="34" charset="-120"/>
              </a:rPr>
              <a:t> Belgium and the Netherlands act as hubs: flag them, show extra-EU separately.</a:t>
            </a:r>
            <a:endParaRPr lang="en-US" sz="1200" dirty="0"/>
          </a:p>
        </p:txBody>
      </p:sp>
      <p:sp>
        <p:nvSpPr>
          <p:cNvPr id="20" name="Text 18"/>
          <p:cNvSpPr/>
          <p:nvPr/>
        </p:nvSpPr>
        <p:spPr>
          <a:xfrm>
            <a:off x="6248400" y="3139441"/>
            <a:ext cx="504926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AFD"/>
                </a:solidFill>
                <a:latin typeface="Public Sans" pitchFamily="34" charset="0"/>
                <a:ea typeface="Public Sans" pitchFamily="34" charset="-122"/>
                <a:cs typeface="Public Sans" pitchFamily="34" charset="-120"/>
              </a:rPr>
              <a:t>Concentration ≠ risk.</a:t>
            </a:r>
            <a:r>
              <a:rPr lang="en-US" sz="1200" dirty="0">
                <a:solidFill>
                  <a:srgbClr val="F7FAFD"/>
                </a:solidFill>
                <a:latin typeface="Public Sans" pitchFamily="34" charset="0"/>
                <a:ea typeface="Public Sans" pitchFamily="34" charset="-122"/>
                <a:cs typeface="Public Sans" pitchFamily="34" charset="-120"/>
              </a:rPr>
              <a:t> Relying on neighbours is not fragile: weight partners transparently.</a:t>
            </a:r>
            <a:endParaRPr lang="en-US" sz="1200" dirty="0"/>
          </a:p>
        </p:txBody>
      </p:sp>
      <p:sp>
        <p:nvSpPr>
          <p:cNvPr id="21" name="Text 19"/>
          <p:cNvSpPr/>
          <p:nvPr/>
        </p:nvSpPr>
        <p:spPr>
          <a:xfrm>
            <a:off x="6248400" y="3667761"/>
            <a:ext cx="504926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AFD"/>
                </a:solidFill>
                <a:latin typeface="Public Sans" pitchFamily="34" charset="0"/>
                <a:ea typeface="Public Sans" pitchFamily="34" charset="-122"/>
                <a:cs typeface="Public Sans" pitchFamily="34" charset="-120"/>
              </a:rPr>
              <a:t>Goods only.</a:t>
            </a:r>
            <a:r>
              <a:rPr lang="en-US" sz="1200" dirty="0">
                <a:solidFill>
                  <a:srgbClr val="F7FAFD"/>
                </a:solidFill>
                <a:latin typeface="Public Sans" pitchFamily="34" charset="0"/>
                <a:ea typeface="Public Sans" pitchFamily="34" charset="-122"/>
                <a:cs typeface="Public Sans" pitchFamily="34" charset="-120"/>
              </a:rPr>
              <a:t> Finance and ICT services are out of scope: say so once.</a:t>
            </a:r>
            <a:endParaRPr lang="en-US" sz="1200" dirty="0"/>
          </a:p>
        </p:txBody>
      </p:sp>
      <p:sp>
        <p:nvSpPr>
          <p:cNvPr id="22" name="Text 20"/>
          <p:cNvSpPr/>
          <p:nvPr/>
        </p:nvSpPr>
        <p:spPr>
          <a:xfrm>
            <a:off x="6248400" y="3982720"/>
            <a:ext cx="504926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AFD"/>
                </a:solidFill>
                <a:latin typeface="Public Sans" pitchFamily="34" charset="0"/>
                <a:ea typeface="Public Sans" pitchFamily="34" charset="-122"/>
                <a:cs typeface="Public Sans" pitchFamily="34" charset="-120"/>
              </a:rPr>
              <a:t>Confidential CN8 cells.</a:t>
            </a:r>
            <a:r>
              <a:rPr lang="en-US" sz="1200" dirty="0">
                <a:solidFill>
                  <a:srgbClr val="F7FAFD"/>
                </a:solidFill>
                <a:latin typeface="Public Sans" pitchFamily="34" charset="0"/>
                <a:ea typeface="Public Sans" pitchFamily="34" charset="-122"/>
                <a:cs typeface="Public Sans" pitchFamily="34" charset="-120"/>
              </a:rPr>
              <a:t> Aggregate to HS4/HS6 where values are suppressed.</a:t>
            </a:r>
            <a:endParaRPr lang="en-US" sz="1200" dirty="0"/>
          </a:p>
        </p:txBody>
      </p:sp>
      <p:sp>
        <p:nvSpPr>
          <p:cNvPr id="23" name="Text 2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D6"/>
                </a:solidFill>
                <a:latin typeface="Public Sans" pitchFamily="34" charset="0"/>
                <a:ea typeface="Public Sans" pitchFamily="34" charset="-122"/>
                <a:cs typeface="Public Sans" pitchFamily="34" charset="-120"/>
              </a:rPr>
              <a:t>Fallback if time runs short: Resist + one stress test (Hormuz 2026) only</a:t>
            </a:r>
            <a:endParaRPr lang="en-US" sz="1200" dirty="0"/>
          </a:p>
        </p:txBody>
      </p:sp>
    </p:spTree>
  </p:cSld>
  <p:clrMapOvr>
    <a:masterClrMapping/>
  </p:clrMapOvr>
</p:sld>
</file>

<file path=ppt/theme/theme1.xml><?xml version="1.0" encoding="utf-8"?>
<a:theme xmlns:a="http://schemas.openxmlformats.org/drawingml/2006/main" name="Resilience Radar – Team Pitch">
  <a:themeElements>
    <a:clrScheme name="Resilience Radar – Team Pitch">
      <a:dk1>
        <a:srgbClr val="E30613"/>
      </a:dk1>
      <a:lt1>
        <a:srgbClr val="F7FAFD"/>
      </a:lt1>
      <a:dk2>
        <a:srgbClr val="E8434E"/>
      </a:dk2>
      <a:lt2>
        <a:srgbClr val="F5E2E6"/>
      </a:lt2>
      <a:accent1>
        <a:srgbClr val="1E1650"/>
      </a:accent1>
      <a:accent2>
        <a:srgbClr val="0077B3"/>
      </a:accent2>
      <a:accent3>
        <a:srgbClr val="0096D6"/>
      </a:accent3>
      <a:accent4>
        <a:srgbClr val="5A5680"/>
      </a:accent4>
      <a:accent5>
        <a:srgbClr val="7CC8F0"/>
      </a:accent5>
      <a:accent6>
        <a:srgbClr val="3A3570"/>
      </a:accent6>
      <a:hlink>
        <a:srgbClr val="0563C1"/>
      </a:hlink>
      <a:folHlink>
        <a:srgbClr val="954F72"/>
      </a:folHlink>
    </a:clrScheme>
    <a:fontScheme name="Resilience Radar – Team Pitch">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Resilience Radar – Team Pitch</dc:title>
  <dc:subject/>
  <dc:creator/>
  <cp:lastModifiedBy/>
  <cp:revision>1</cp:revision>
  <dcterms:created xsi:type="dcterms:W3CDTF">2026-10-14T10:01:33Z</dcterms:created>
  <dcterms:modified xsi:type="dcterms:W3CDTF">2026-10-14T10:01:33Z</dcterms:modified>
</cp:coreProperties>
</file>